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afadd59a04586" /><Relationship Type="http://schemas.openxmlformats.org/officeDocument/2006/relationships/extended-properties" Target="/docProps/app.xml" Id="R9c7419d7098445a4" /><Relationship Type="http://schemas.openxmlformats.org/officeDocument/2006/relationships/officeDocument" Target="/ppt/presentation.xml" Id="R49779577c3ea44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b44be324fb40f8"/>
  </p:sldMasterIdLst>
  <p:notesMasterIdLst>
    <p:notesMasterId xmlns:r="http://schemas.openxmlformats.org/officeDocument/2006/relationships" r:id="Rd113979038144464"/>
  </p:notesMasterIdLst>
  <p:sldIdLst>
    <p:sldId xmlns:r="http://schemas.openxmlformats.org/officeDocument/2006/relationships" id="256" r:id="R0c8af800b4004a2f"/>
    <p:sldId xmlns:r="http://schemas.openxmlformats.org/officeDocument/2006/relationships" id="257" r:id="Rf47a655b86244138"/>
    <p:sldId xmlns:r="http://schemas.openxmlformats.org/officeDocument/2006/relationships" id="258" r:id="Rc7d43a57c07f4613"/>
    <p:sldId xmlns:r="http://schemas.openxmlformats.org/officeDocument/2006/relationships" id="259" r:id="Rcddbd50d9d314876"/>
    <p:sldId xmlns:r="http://schemas.openxmlformats.org/officeDocument/2006/relationships" id="260" r:id="Rdb7534da50f8494e"/>
    <p:sldId xmlns:r="http://schemas.openxmlformats.org/officeDocument/2006/relationships" id="261" r:id="Rd32605ba49dd4de3"/>
    <p:sldId xmlns:r="http://schemas.openxmlformats.org/officeDocument/2006/relationships" id="262" r:id="Reb12496679b740f2"/>
    <p:sldId xmlns:r="http://schemas.openxmlformats.org/officeDocument/2006/relationships" id="263" r:id="Ra9bf6d76391c41a4"/>
    <p:sldId xmlns:r="http://schemas.openxmlformats.org/officeDocument/2006/relationships" id="264" r:id="R79903985aa74460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44be324fb40f8" /><Relationship Type="http://schemas.openxmlformats.org/officeDocument/2006/relationships/theme" Target="/ppt/theme/theme1.xml" Id="R5c451da07e7f4da2" /><Relationship Type="http://schemas.openxmlformats.org/officeDocument/2006/relationships/notesMaster" Target="/ppt/notesMasters/notesMaster1.xml" Id="Rd113979038144464" /><Relationship Type="http://schemas.openxmlformats.org/officeDocument/2006/relationships/presProps" Target="/ppt/presProps.xml" Id="Raf1cc042aa394b45" /><Relationship Type="http://schemas.openxmlformats.org/officeDocument/2006/relationships/viewProps" Target="/ppt/viewProps.xml" Id="R1317c873523b4f0f" /><Relationship Type="http://schemas.openxmlformats.org/officeDocument/2006/relationships/tableStyles" Target="/ppt/tableStyles.xml" Id="R2aada3b1cf834985" /><Relationship Type="http://schemas.openxmlformats.org/officeDocument/2006/relationships/slide" Target="/ppt/slides/slide1.xml" Id="R0c8af800b4004a2f" /><Relationship Type="http://schemas.openxmlformats.org/officeDocument/2006/relationships/slide" Target="/ppt/slides/slide2.xml" Id="Rf47a655b86244138" /><Relationship Type="http://schemas.openxmlformats.org/officeDocument/2006/relationships/slide" Target="/ppt/slides/slide3.xml" Id="Rc7d43a57c07f4613" /><Relationship Type="http://schemas.openxmlformats.org/officeDocument/2006/relationships/slide" Target="/ppt/slides/slide4.xml" Id="Rcddbd50d9d314876" /><Relationship Type="http://schemas.openxmlformats.org/officeDocument/2006/relationships/slide" Target="/ppt/slides/slide5.xml" Id="Rdb7534da50f8494e" /><Relationship Type="http://schemas.openxmlformats.org/officeDocument/2006/relationships/slide" Target="/ppt/slides/slide6.xml" Id="Rd32605ba49dd4de3" /><Relationship Type="http://schemas.openxmlformats.org/officeDocument/2006/relationships/slide" Target="/ppt/slides/slide7.xml" Id="Reb12496679b740f2" /><Relationship Type="http://schemas.openxmlformats.org/officeDocument/2006/relationships/slide" Target="/ppt/slides/slide8.xml" Id="Ra9bf6d76391c41a4" /><Relationship Type="http://schemas.openxmlformats.org/officeDocument/2006/relationships/slide" Target="/ppt/slides/slide9.xml" Id="R79903985aa74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53d0f99efaf43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edca9bcd5a4e39" /><Relationship Type="http://schemas.openxmlformats.org/officeDocument/2006/relationships/notesMaster" Target="/ppt/notesMasters/notesMaster1.xml" Id="R823310826f35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1e092742bd4326" /><Relationship Type="http://schemas.openxmlformats.org/officeDocument/2006/relationships/notesMaster" Target="/ppt/notesMasters/notesMaster1.xml" Id="R1b20e61130194e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a27ca340854ad9" /><Relationship Type="http://schemas.openxmlformats.org/officeDocument/2006/relationships/notesMaster" Target="/ppt/notesMasters/notesMaster1.xml" Id="Rf05f35949a504d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a26426a9694c4f" /><Relationship Type="http://schemas.openxmlformats.org/officeDocument/2006/relationships/notesMaster" Target="/ppt/notesMasters/notesMaster1.xml" Id="R2f7b1054900a47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59ac02ef354c66" /><Relationship Type="http://schemas.openxmlformats.org/officeDocument/2006/relationships/notesMaster" Target="/ppt/notesMasters/notesMaster1.xml" Id="R5c889e729ff84b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21a7c38c334a00" /><Relationship Type="http://schemas.openxmlformats.org/officeDocument/2006/relationships/notesMaster" Target="/ppt/notesMasters/notesMaster1.xml" Id="Rea595313c437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37b706bee6487d" /><Relationship Type="http://schemas.openxmlformats.org/officeDocument/2006/relationships/notesMaster" Target="/ppt/notesMasters/notesMaster1.xml" Id="R69cc471c3bac47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3e6e38c2304291" /><Relationship Type="http://schemas.openxmlformats.org/officeDocument/2006/relationships/notesMaster" Target="/ppt/notesMasters/notesMaster1.xml" Id="Rc3ed120f930043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471dbba28b4943" /><Relationship Type="http://schemas.openxmlformats.org/officeDocument/2006/relationships/notesMaster" Target="/ppt/notesMasters/notesMaster1.xml" Id="R02576e6ed29748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0bba29e3c24f3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fb999ab4f03445f" /><Relationship Type="http://schemas.openxmlformats.org/officeDocument/2006/relationships/slideLayout" Target="/ppt/slideLayouts/slideLayout2.xml" Id="R998aef473b30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8aef473b30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f21b85a7d4dfb" /><Relationship Type="http://schemas.openxmlformats.org/officeDocument/2006/relationships/image" Target="/ppt/media/image.png" Id="Rb521aed2caf24eb4" /><Relationship Type="http://schemas.openxmlformats.org/officeDocument/2006/relationships/notesSlide" Target="/ppt/notesSlides/notesSlide1.xml" Id="Rcfb1b1560b7e4b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8007893ee6411a" /><Relationship Type="http://schemas.openxmlformats.org/officeDocument/2006/relationships/notesSlide" Target="/ppt/notesSlides/notesSlide2.xml" Id="R8c85bbf14c5546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a76d3dd3a4a9d" /><Relationship Type="http://schemas.openxmlformats.org/officeDocument/2006/relationships/image" Target="/ppt/media/image2.png" Id="R66fed7aad2634508" /><Relationship Type="http://schemas.openxmlformats.org/officeDocument/2006/relationships/notesSlide" Target="/ppt/notesSlides/notesSlide3.xml" Id="R5a727aac44aa41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a221e3a294cb8" /><Relationship Type="http://schemas.openxmlformats.org/officeDocument/2006/relationships/notesSlide" Target="/ppt/notesSlides/notesSlide4.xml" Id="Rc1954a8293d141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637e0efe334e19" /><Relationship Type="http://schemas.openxmlformats.org/officeDocument/2006/relationships/notesSlide" Target="/ppt/notesSlides/notesSlide5.xml" Id="R2ecb4268cf524a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59c724c0ae4660" /><Relationship Type="http://schemas.openxmlformats.org/officeDocument/2006/relationships/notesSlide" Target="/ppt/notesSlides/notesSlide6.xml" Id="Rcf3b36bb96e14f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7404ddd2542e6" /><Relationship Type="http://schemas.openxmlformats.org/officeDocument/2006/relationships/notesSlide" Target="/ppt/notesSlides/notesSlide7.xml" Id="Rcb38e2dd93b249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d221fc4f6644cf" /><Relationship Type="http://schemas.openxmlformats.org/officeDocument/2006/relationships/notesSlide" Target="/ppt/notesSlides/notesSlide8.xml" Id="R7a05e05375e144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d49ce997bd4a37" /><Relationship Type="http://schemas.openxmlformats.org/officeDocument/2006/relationships/notesSlide" Target="/ppt/notesSlides/notesSlide9.xml" Id="Re0b3746822fb45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1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rewtrace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1aed2caf24eb4"/>
          <a:stretch xmlns:a="http://schemas.openxmlformats.org/drawingml/2006/main"/>
        </p:blipFill>
        <p:spPr>
          <a:xfrm xmlns:a="http://schemas.openxmlformats.org/drawingml/2006/main">
            <a:off x="1047750" y="819150"/>
            <a:ext cx="2476500" cy="666750"/>
          </a:xfrm>
          <a:prstGeom xmlns:a="http://schemas.openxmlformats.org/drawingml/2006/main" prst="rect">
            <a:avLst/>
          </a:prstGeom>
        </p:spPr>
      </p:pic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E0FE1BC-6F9A-4C2E-898C-52FB260B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676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D6D2FF"/>
                </a:solidFill>
              </a:defRPr>
            </a:pPr>
            <a:r>
              <a:rPr sz="2100" b="1" i="0">
                <a:solidFill>
                  <a:srgbClr val="D6D2FF"/>
                </a:solidFill>
              </a:rPr>
              <a:t>Marketing plan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4E9580E-1376-4FCB-BEC5-52E27A7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2392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 i="0">
                <a:solidFill>
                  <a:srgbClr val="FFFFFF"/>
                </a:solidFill>
              </a:defRPr>
            </a:pPr>
            <a:r>
              <a:rPr sz="6150" b="1" i="0">
                <a:solidFill>
                  <a:srgbClr val="FFFFFF"/>
                </a:solidFill>
              </a:rPr>
              <a:t>Turn payroll leakage into the sales wedge.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CFD94BB-4C93-45BB-8722-6EA7373F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6896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D6D2FF"/>
                </a:solidFill>
              </a:defRPr>
            </a:pPr>
            <a:r>
              <a:rPr sz="2325" b="0" i="0">
                <a:solidFill>
                  <a:srgbClr val="D6D2FF"/>
                </a:solidFill>
              </a:rPr>
              <a:t>California-first founder-led acquisition plan for Crewtrace.</a:t>
            </a:r>
          </a:p>
        </p:txBody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C0FC9860-5820-48F7-8A36-D0C17A5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43550"/>
            <a:ext cx="78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8B4FF"/>
                </a:solidFill>
              </a:defRPr>
            </a:pPr>
            <a:r>
              <a:rPr sz="1500" b="0" i="0">
                <a:solidFill>
                  <a:srgbClr val="B8B4FF"/>
                </a:solidFill>
              </a:rPr>
              <a:t>June 2026</a:t>
            </a:r>
          </a:p>
        </p:txBody>
      </p:sp>
      <p:sp>
        <p:nvSpPr>
          <p:cNvPr id="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3BF0B00F-0ECA-4472-AEB5-FE45B7E8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819150"/>
            <a:ext cx="48006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 i="0">
                <a:solidFill>
                  <a:srgbClr val="FFFFFF"/>
                </a:solidFill>
              </a:defRPr>
            </a:pPr>
            <a:r>
              <a:rPr sz="6450" b="1" i="0">
                <a:solidFill>
                  <a:srgbClr val="FFFFFF"/>
                </a:solidFill>
              </a:rPr>
              <a:t>$2,100/mo</a:t>
            </a:r>
          </a:p>
        </p:txBody>
      </p:sp>
      <p:sp>
        <p:nvSpPr>
          <p:cNvPr id="7" name="cover-proof-label">
            <a:extLst xmlns:a="http://schemas.openxmlformats.org/drawingml/2006/main">
              <a:ext uri="{FF2B5EF4-FFF2-40B4-BE49-F238E27FC236}">
                <a16:creationId xmlns:a16="http://schemas.microsoft.com/office/drawing/2014/main" id="{6FF4414C-669D-4D66-AED9-880B2544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981200"/>
            <a:ext cx="3905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E6E3FF"/>
                </a:solidFill>
              </a:defRPr>
            </a:pPr>
            <a:r>
              <a:rPr sz="2100" b="0" i="0">
                <a:solidFill>
                  <a:srgbClr val="E6E3FF"/>
                </a:solidFill>
              </a:rPr>
              <a:t>recovered in payroll leakage at S&amp;W Waterproofing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DC6FBA21-139B-41A4-A8D9-D399468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278130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solidFill>
              <a:srgbClr val="F4B74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1241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current-signal">
            <a:extLst xmlns:a="http://schemas.openxmlformats.org/drawingml/2006/main">
              <a:ext uri="{FF2B5EF4-FFF2-40B4-BE49-F238E27FC236}">
                <a16:creationId xmlns:a16="http://schemas.microsoft.com/office/drawing/2014/main" id="{37690CBD-C8D7-4AE9-AF61-689779E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1424273" cy="6248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Current signal">
            <a:extLst xmlns:a="http://schemas.openxmlformats.org/drawingml/2006/main">
              <a:ext uri="{FF2B5EF4-FFF2-40B4-BE49-F238E27FC236}">
                <a16:creationId xmlns:a16="http://schemas.microsoft.com/office/drawing/2014/main" id="{65397967-741D-4FE5-A041-3F673469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Current signal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8E42D1-15C7-47E0-8375-EE2E2F05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1658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The strongest evidence is not ad volume. It is trust.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D92857D-02BE-4B29-A9F3-14DFA0BE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0839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Crewtrace has two real usage proofs: a paying general contractor and the waterproofing company it was originally built for.</a:t>
            </a:r>
          </a:p>
        </p:txBody>
      </p:sp>
      <p:sp>
        <p:nvSpPr>
          <p:cNvPr id="5" name="metric-value-paying GC customer">
            <a:extLst xmlns:a="http://schemas.openxmlformats.org/drawingml/2006/main">
              <a:ext uri="{FF2B5EF4-FFF2-40B4-BE49-F238E27FC236}">
                <a16:creationId xmlns:a16="http://schemas.microsoft.com/office/drawing/2014/main" id="{CEDA013F-95C7-4612-A76C-4C644580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5524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47857"/>
                </a:solidFill>
              </a:defRPr>
            </a:pPr>
            <a:r>
              <a:rPr sz="4800" b="1" i="0">
                <a:solidFill>
                  <a:srgbClr val="047857"/>
                </a:solidFill>
              </a:rPr>
              <a:t>1</a:t>
            </a:r>
          </a:p>
        </p:txBody>
      </p:sp>
      <p:sp>
        <p:nvSpPr>
          <p:cNvPr id="6" name="metric-label-paying GC customer">
            <a:extLst xmlns:a="http://schemas.openxmlformats.org/drawingml/2006/main">
              <a:ext uri="{FF2B5EF4-FFF2-40B4-BE49-F238E27FC236}">
                <a16:creationId xmlns:a16="http://schemas.microsoft.com/office/drawing/2014/main" id="{909DD50C-4948-437D-BE25-B895AFB0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paying GC customer</a:t>
            </a:r>
          </a:p>
        </p:txBody>
      </p:sp>
      <p:sp>
        <p:nvSpPr>
          <p:cNvPr id="7" name="metric-value-onboarding fee collected">
            <a:extLst xmlns:a="http://schemas.openxmlformats.org/drawingml/2006/main">
              <a:ext uri="{FF2B5EF4-FFF2-40B4-BE49-F238E27FC236}">
                <a16:creationId xmlns:a16="http://schemas.microsoft.com/office/drawing/2014/main" id="{53A690A7-A9CF-40AB-9E3F-4DF04F1F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5524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47857"/>
                </a:solidFill>
              </a:defRPr>
            </a:pPr>
            <a:r>
              <a:rPr sz="4800" b="1" i="0">
                <a:solidFill>
                  <a:srgbClr val="047857"/>
                </a:solidFill>
              </a:rPr>
              <a:t>$1k</a:t>
            </a:r>
          </a:p>
        </p:txBody>
      </p:sp>
      <p:sp>
        <p:nvSpPr>
          <p:cNvPr id="8" name="metric-label-onboarding fee collected">
            <a:extLst xmlns:a="http://schemas.openxmlformats.org/drawingml/2006/main">
              <a:ext uri="{FF2B5EF4-FFF2-40B4-BE49-F238E27FC236}">
                <a16:creationId xmlns:a16="http://schemas.microsoft.com/office/drawing/2014/main" id="{7974C00F-0DE4-4804-AB1D-7833605F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onboarding fee collected</a:t>
            </a:r>
          </a:p>
        </p:txBody>
      </p:sp>
      <p:sp>
        <p:nvSpPr>
          <p:cNvPr id="9" name="metric-value-current subscription">
            <a:extLst xmlns:a="http://schemas.openxmlformats.org/drawingml/2006/main">
              <a:ext uri="{FF2B5EF4-FFF2-40B4-BE49-F238E27FC236}">
                <a16:creationId xmlns:a16="http://schemas.microsoft.com/office/drawing/2014/main" id="{03A23CC1-FF7E-452D-846B-4FD9AD53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505200"/>
            <a:ext cx="5524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2F27CE"/>
                </a:solidFill>
              </a:defRPr>
            </a:pPr>
            <a:r>
              <a:rPr sz="4800" b="1" i="0">
                <a:solidFill>
                  <a:srgbClr val="2F27CE"/>
                </a:solidFill>
              </a:rPr>
              <a:t>$100/mo</a:t>
            </a:r>
          </a:p>
        </p:txBody>
      </p:sp>
      <p:sp>
        <p:nvSpPr>
          <p:cNvPr id="10" name="metric-label-current subscription">
            <a:extLst xmlns:a="http://schemas.openxmlformats.org/drawingml/2006/main">
              <a:ext uri="{FF2B5EF4-FFF2-40B4-BE49-F238E27FC236}">
                <a16:creationId xmlns:a16="http://schemas.microsoft.com/office/drawing/2014/main" id="{E70710DB-7C3A-4EAF-AEFB-1BACBBAD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305300"/>
            <a:ext cx="552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current subscription</a:t>
            </a:r>
          </a:p>
        </p:txBody>
      </p:sp>
      <p:sp>
        <p:nvSpPr>
          <p:cNvPr id="11" name="divider">
            <a:extLst xmlns:a="http://schemas.openxmlformats.org/drawingml/2006/main">
              <a:ext uri="{FF2B5EF4-FFF2-40B4-BE49-F238E27FC236}">
                <a16:creationId xmlns:a16="http://schemas.microsoft.com/office/drawing/2014/main" id="{2E35B495-0AEB-4D26-9A86-600C062B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F0"/>
          </a:solidFill>
          <a:ln xmlns:a="http://schemas.openxmlformats.org/drawingml/2006/main" w="0">
            <a:solidFill>
              <a:srgbClr val="E7EAF0"/>
            </a:solidFill>
            <a:prstDash val="solid"/>
          </a:ln>
        </p:spPr>
      </p:sp>
      <p:sp>
        <p:nvSpPr>
          <p:cNvPr id="12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D34B7506-17A3-4585-BFDD-906CC625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CF8BE96-7590-4D64-9318-8B009BF2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1030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Cold email produced almost no response across roughly 2,000 contacts.</a:t>
            </a:r>
          </a:p>
        </p:txBody>
      </p:sp>
      <p:sp>
        <p:nvSpPr>
          <p:cNvPr id="14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FC6A8BBC-016F-4120-B4E3-CDB0B9BC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90D0C66-0029-4926-A346-E1E9DCE6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030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Manual LinkedIn created conversations, but no conversions.</a:t>
            </a:r>
          </a:p>
        </p:txBody>
      </p:sp>
      <p:sp>
        <p:nvSpPr>
          <p:cNvPr id="16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F31C10BF-5C86-4421-A6FE-367BE695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FED99E2D-0FBC-4398-AEB1-0D0ABF78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34150"/>
            <a:ext cx="1030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Industry contacts produced the only sale so far.</a:t>
            </a:r>
          </a:p>
        </p:txBody>
      </p:sp>
      <p:sp>
        <p:nvSpPr>
          <p:cNvPr id="18" name="proof-note">
            <a:extLst xmlns:a="http://schemas.openxmlformats.org/drawingml/2006/main">
              <a:ext uri="{FF2B5EF4-FFF2-40B4-BE49-F238E27FC236}">
                <a16:creationId xmlns:a16="http://schemas.microsoft.com/office/drawing/2014/main" id="{4CB106B2-5F28-475C-B0A0-9D3EF20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612130"/>
            <a:ext cx="5334000" cy="149352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proof-note-text">
            <a:extLst xmlns:a="http://schemas.openxmlformats.org/drawingml/2006/main">
              <a:ext uri="{FF2B5EF4-FFF2-40B4-BE49-F238E27FC236}">
                <a16:creationId xmlns:a16="http://schemas.microsoft.com/office/drawing/2014/main" id="{1A84CC46-4D85-4DC4-89D4-4768EBA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886450"/>
            <a:ext cx="4686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</a:defRPr>
            </a:pPr>
            <a:r>
              <a:rPr sz="2100" b="1" i="0">
                <a:solidFill>
                  <a:srgbClr val="172033"/>
                </a:solidFill>
              </a:rPr>
              <a:t>Interpretation: the market buys this through credibility and owner-to-owner trust before it buys the website.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8F8B213-0F20-4A8E-9F23-69BAFF3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200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21" name="footer-text">
            <a:extLst xmlns:a="http://schemas.openxmlformats.org/drawingml/2006/main">
              <a:ext uri="{FF2B5EF4-FFF2-40B4-BE49-F238E27FC236}">
                <a16:creationId xmlns:a16="http://schemas.microsoft.com/office/drawing/2014/main" id="{FB98BB1B-4A8B-40D2-A9B8-599771FA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620000"/>
            <a:ext cx="5391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Repo and founder context: pricing, S&amp;W proof, current funnel, current customer status.</a:t>
            </a:r>
          </a:p>
        </p:txBody>
      </p:sp>
    </p:spTree>
    <p:extLst>
      <p:ext uri="{BB962C8B-B14F-4D97-AF65-F5344CB8AC3E}">
        <p14:creationId xmlns:p14="http://schemas.microsoft.com/office/powerpoint/2010/main" val="1102626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beachhead">
            <a:extLst xmlns:a="http://schemas.openxmlformats.org/drawingml/2006/main">
              <a:ext uri="{FF2B5EF4-FFF2-40B4-BE49-F238E27FC236}">
                <a16:creationId xmlns:a16="http://schemas.microsoft.com/office/drawing/2014/main" id="{6E63F729-EDAB-4C98-9CF9-154ECA83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1210342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Beachhead">
            <a:extLst xmlns:a="http://schemas.openxmlformats.org/drawingml/2006/main">
              <a:ext uri="{FF2B5EF4-FFF2-40B4-BE49-F238E27FC236}">
                <a16:creationId xmlns:a16="http://schemas.microsoft.com/office/drawing/2014/main" id="{AC24A288-EDB4-4211-8839-B9251480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83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Beachhead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860A27-58B6-404A-947E-38639153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29540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Start with California contractors who already feel payroll pain.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C350CFD-5D10-4C9B-B8B8-A5C7ED5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0668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Not every contractor is the first target. The best first customer has enough crews, enough jobsites, and enough payroll mess for the problem to be visible.</a:t>
            </a:r>
          </a:p>
        </p:txBody>
      </p:sp>
      <p:sp>
        <p:nvSpPr>
          <p:cNvPr id="5" name="segment-label">
            <a:extLst xmlns:a="http://schemas.openxmlformats.org/drawingml/2006/main">
              <a:ext uri="{FF2B5EF4-FFF2-40B4-BE49-F238E27FC236}">
                <a16:creationId xmlns:a16="http://schemas.microsoft.com/office/drawing/2014/main" id="{5B61678D-B85E-477A-94DB-25A48EF4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800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27CE"/>
                </a:solidFill>
              </a:defRPr>
            </a:pPr>
            <a:r>
              <a:rPr sz="1800" b="1" i="0">
                <a:solidFill>
                  <a:srgbClr val="2F27CE"/>
                </a:solidFill>
              </a:rPr>
              <a:t>Ideal first segment</a:t>
            </a:r>
          </a:p>
        </p:txBody>
      </p:sp>
      <p:sp>
        <p:nvSpPr>
          <p:cNvPr id="6" name="segment-main">
            <a:extLst xmlns:a="http://schemas.openxmlformats.org/drawingml/2006/main">
              <a:ext uri="{FF2B5EF4-FFF2-40B4-BE49-F238E27FC236}">
                <a16:creationId xmlns:a16="http://schemas.microsoft.com/office/drawing/2014/main" id="{685F8436-3734-4D6A-912B-E96A3DF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7620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72033"/>
                </a:solidFill>
              </a:defRPr>
            </a:pPr>
            <a:r>
              <a:rPr sz="3600" b="1" i="0">
                <a:solidFill>
                  <a:srgbClr val="172033"/>
                </a:solidFill>
              </a:rPr>
              <a:t>California contractors with 10–75 hourly field employees across multiple active jobsites.</a:t>
            </a:r>
          </a:p>
        </p:txBody>
      </p:sp>
      <p:sp>
        <p:nvSpPr>
          <p:cNvPr id="7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52E83C29-0C05-47C3-9074-9E6FAB8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9C2FFD3-CBC9-46D5-B697-51D8557A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General contractors with employees</a:t>
            </a:r>
          </a:p>
        </p:txBody>
      </p:sp>
      <p:sp>
        <p:nvSpPr>
          <p:cNvPr id="9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F6EEAAEF-9EF3-4476-9916-AA1BBB82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29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AE482871-7291-4C16-89E2-243018B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Waterproofing, roofing, concrete, HVAC, electrical, plumbing, landscaping</a:t>
            </a:r>
          </a:p>
        </p:txBody>
      </p:sp>
      <p:sp>
        <p:nvSpPr>
          <p:cNvPr id="11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76B03744-2D86-4FCD-9632-37167520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86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3FC63416-9B18-46D1-BFC2-9B4D78F0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866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Paper timesheets, spreadsheets, or basic clock apps</a:t>
            </a:r>
          </a:p>
        </p:txBody>
      </p:sp>
      <p:sp>
        <p:nvSpPr>
          <p:cNvPr id="13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CE5095A4-B127-4C8B-889A-2A75D268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438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44E5D006-8AD4-418E-B9A9-342156B9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438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Owner suspects leakage but lacks proof</a:t>
            </a:r>
          </a:p>
        </p:txBody>
      </p:sp>
      <p:sp>
        <p:nvSpPr>
          <p:cNvPr id="15" name="ca-records">
            <a:extLst xmlns:a="http://schemas.openxmlformats.org/drawingml/2006/main">
              <a:ext uri="{FF2B5EF4-FFF2-40B4-BE49-F238E27FC236}">
                <a16:creationId xmlns:a16="http://schemas.microsoft.com/office/drawing/2014/main" id="{791047D8-41E9-4C77-A724-C5D4E4A3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60470"/>
            <a:ext cx="8058150" cy="1649730"/>
          </a:xfrm>
          <a:prstGeom xmlns:a="http://schemas.openxmlformats.org/drawingml/2006/main" prst="roundRect">
            <a:avLst>
              <a:gd name="adj" fmla="val 9238"/>
            </a:avLst>
          </a:prstGeom>
          <a:solidFill xmlns:a="http://schemas.openxmlformats.org/drawingml/2006/main">
            <a:srgbClr val="FFE8D9"/>
          </a:solidFill>
        </p:spPr>
      </p:sp>
      <p:sp>
        <p:nvSpPr>
          <p:cNvPr id="16" name="ca-title">
            <a:extLst xmlns:a="http://schemas.openxmlformats.org/drawingml/2006/main">
              <a:ext uri="{FF2B5EF4-FFF2-40B4-BE49-F238E27FC236}">
                <a16:creationId xmlns:a16="http://schemas.microsoft.com/office/drawing/2014/main" id="{CE4A8DC1-CDA1-4923-B7D4-13164B09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00500"/>
            <a:ext cx="7410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2410C"/>
                </a:solidFill>
              </a:defRPr>
            </a:pPr>
            <a:r>
              <a:rPr sz="1725" b="1" i="0">
                <a:solidFill>
                  <a:srgbClr val="C2410C"/>
                </a:solidFill>
              </a:rPr>
              <a:t>California wedge</a:t>
            </a:r>
          </a:p>
        </p:txBody>
      </p:sp>
      <p:sp>
        <p:nvSpPr>
          <p:cNvPr id="17" name="ca-copy">
            <a:extLst xmlns:a="http://schemas.openxmlformats.org/drawingml/2006/main">
              <a:ext uri="{FF2B5EF4-FFF2-40B4-BE49-F238E27FC236}">
                <a16:creationId xmlns:a16="http://schemas.microsoft.com/office/drawing/2014/main" id="{00D984E4-A63F-44A3-9A2E-2B461C11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74104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2033"/>
                </a:solidFill>
              </a:defRPr>
            </a:pPr>
            <a:r>
              <a:rPr sz="2550" b="1" i="0">
                <a:solidFill>
                  <a:srgbClr val="172033"/>
                </a:solidFill>
              </a:rPr>
              <a:t>Do not sell legal advice. Sell cleaner records before payroll closes.</a:t>
            </a:r>
          </a:p>
        </p:txBody>
      </p:sp>
      <p:pic>
        <p:nvPicPr>
          <p:cNvPr id="18" name="geofence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ed7aad2634508"/>
          <a:stretch xmlns:a="http://schemas.openxmlformats.org/drawingml/2006/main"/>
        </p:blipFill>
        <p:spPr>
          <a:xfrm xmlns:a="http://schemas.openxmlformats.org/drawingml/2006/main">
            <a:off x="9391650" y="5676900"/>
            <a:ext cx="8058150" cy="3048000"/>
          </a:xfrm>
          <a:prstGeom xmlns:a="http://schemas.openxmlformats.org/drawingml/2006/main" prst="rect">
            <a:avLst/>
          </a:prstGeom>
        </p:spPr>
      </p:pic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AE1B4CB-47F8-44DA-8B0C-6E4EECA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04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20" name="footer-text">
            <a:extLst xmlns:a="http://schemas.openxmlformats.org/drawingml/2006/main">
              <a:ext uri="{FF2B5EF4-FFF2-40B4-BE49-F238E27FC236}">
                <a16:creationId xmlns:a16="http://schemas.microsoft.com/office/drawing/2014/main" id="{15369A55-4ECB-4A1C-A014-6841DE6E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048750"/>
            <a:ext cx="657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Source context: CA DIR/DOL recordkeeping and meal-period guidance; use as risk context, not legal claims.</a:t>
            </a:r>
          </a:p>
        </p:txBody>
      </p:sp>
    </p:spTree>
    <p:extLst>
      <p:ext uri="{BB962C8B-B14F-4D97-AF65-F5344CB8AC3E}">
        <p14:creationId xmlns:p14="http://schemas.microsoft.com/office/powerpoint/2010/main" val="829068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positioning">
            <a:extLst xmlns:a="http://schemas.openxmlformats.org/drawingml/2006/main">
              <a:ext uri="{FF2B5EF4-FFF2-40B4-BE49-F238E27FC236}">
                <a16:creationId xmlns:a16="http://schemas.microsoft.com/office/drawing/2014/main" id="{71290C31-FD14-4B6A-ACDD-9803E859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1215866" cy="6248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Positioning">
            <a:extLst xmlns:a="http://schemas.openxmlformats.org/drawingml/2006/main">
              <a:ext uri="{FF2B5EF4-FFF2-40B4-BE49-F238E27FC236}">
                <a16:creationId xmlns:a16="http://schemas.microsoft.com/office/drawing/2014/main" id="{CFE34541-B6ED-4581-AFC8-947E8141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838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Positioning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A371F0-659B-433F-B81A-0A34A362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9867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Do not sell time tracking. Sell payroll proof.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C58A06-F3AB-4CED-A48C-93C929EB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04203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The category is crowded. Crewtrace needs a narrower promise that connects directly to owner pain.</a:t>
            </a:r>
          </a:p>
        </p:txBody>
      </p:sp>
      <p:sp>
        <p:nvSpPr>
          <p:cNvPr id="5" name="bad-label">
            <a:extLst xmlns:a="http://schemas.openxmlformats.org/drawingml/2006/main">
              <a:ext uri="{FF2B5EF4-FFF2-40B4-BE49-F238E27FC236}">
                <a16:creationId xmlns:a16="http://schemas.microsoft.com/office/drawing/2014/main" id="{5E34621F-7690-4A6C-8A6C-02921086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2410C"/>
                </a:solidFill>
              </a:defRPr>
            </a:pPr>
            <a:r>
              <a:rPr sz="1800" b="1" i="0">
                <a:solidFill>
                  <a:srgbClr val="C2410C"/>
                </a:solidFill>
              </a:rPr>
              <a:t>Commodity framing</a:t>
            </a:r>
          </a:p>
        </p:txBody>
      </p:sp>
      <p:sp>
        <p:nvSpPr>
          <p:cNvPr id="6" name="bad-copy">
            <a:extLst xmlns:a="http://schemas.openxmlformats.org/drawingml/2006/main">
              <a:ext uri="{FF2B5EF4-FFF2-40B4-BE49-F238E27FC236}">
                <a16:creationId xmlns:a16="http://schemas.microsoft.com/office/drawing/2014/main" id="{BAFCA790-3D61-4CB9-8A34-0C133C89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58102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0" i="0">
                <a:solidFill>
                  <a:srgbClr val="667085"/>
                </a:solidFill>
              </a:defRPr>
            </a:pPr>
            <a:r>
              <a:rPr sz="3150" b="0" i="0">
                <a:solidFill>
                  <a:srgbClr val="667085"/>
                </a:solidFill>
              </a:rPr>
              <a:t>Construction time tracking software</a:t>
            </a:r>
          </a:p>
        </p:txBody>
      </p:sp>
      <p:sp>
        <p:nvSpPr>
          <p:cNvPr id="7" name="position-rule">
            <a:extLst xmlns:a="http://schemas.openxmlformats.org/drawingml/2006/main">
              <a:ext uri="{FF2B5EF4-FFF2-40B4-BE49-F238E27FC236}">
                <a16:creationId xmlns:a16="http://schemas.microsoft.com/office/drawing/2014/main" id="{86882CDF-77D3-40FF-8EA7-A0122C9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F0"/>
          </a:solidFill>
          <a:ln xmlns:a="http://schemas.openxmlformats.org/drawingml/2006/main" w="0">
            <a:solidFill>
              <a:srgbClr val="E7EAF0"/>
            </a:solidFill>
            <a:prstDash val="solid"/>
          </a:ln>
        </p:spPr>
      </p:sp>
      <p:sp>
        <p:nvSpPr>
          <p:cNvPr id="8" name="good-label">
            <a:extLst xmlns:a="http://schemas.openxmlformats.org/drawingml/2006/main">
              <a:ext uri="{FF2B5EF4-FFF2-40B4-BE49-F238E27FC236}">
                <a16:creationId xmlns:a16="http://schemas.microsoft.com/office/drawing/2014/main" id="{919DA596-FB48-4D3E-BF5E-F69ADDE2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657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47857"/>
                </a:solidFill>
              </a:defRPr>
            </a:pPr>
            <a:r>
              <a:rPr sz="1800" b="1" i="0">
                <a:solidFill>
                  <a:srgbClr val="047857"/>
                </a:solidFill>
              </a:rPr>
              <a:t>Wedge framing</a:t>
            </a:r>
          </a:p>
        </p:txBody>
      </p:sp>
      <p:sp>
        <p:nvSpPr>
          <p:cNvPr id="9" name="good-copy">
            <a:extLst xmlns:a="http://schemas.openxmlformats.org/drawingml/2006/main">
              <a:ext uri="{FF2B5EF4-FFF2-40B4-BE49-F238E27FC236}">
                <a16:creationId xmlns:a16="http://schemas.microsoft.com/office/drawing/2014/main" id="{BD2CC381-7F51-4BA2-A8F0-91A4734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56578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172033"/>
                </a:solidFill>
              </a:defRPr>
            </a:pPr>
            <a:r>
              <a:rPr sz="4200" b="1" i="0">
                <a:solidFill>
                  <a:srgbClr val="172033"/>
                </a:solidFill>
              </a:rPr>
              <a:t>Stop paying for hours you cannot verify.</a:t>
            </a:r>
          </a:p>
        </p:txBody>
      </p:sp>
      <p:sp>
        <p:nvSpPr>
          <p:cNvPr id="10" name="positioning-statement">
            <a:extLst xmlns:a="http://schemas.openxmlformats.org/drawingml/2006/main">
              <a:ext uri="{FF2B5EF4-FFF2-40B4-BE49-F238E27FC236}">
                <a16:creationId xmlns:a16="http://schemas.microsoft.com/office/drawing/2014/main" id="{E2A99095-0237-4A23-97AC-482EB28B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05200"/>
            <a:ext cx="9334500" cy="2609850"/>
          </a:xfrm>
          <a:prstGeom xmlns:a="http://schemas.openxmlformats.org/drawingml/2006/main" prst="roundRect">
            <a:avLst>
              <a:gd name="adj" fmla="val 72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message-label">
            <a:extLst xmlns:a="http://schemas.openxmlformats.org/drawingml/2006/main">
              <a:ext uri="{FF2B5EF4-FFF2-40B4-BE49-F238E27FC236}">
                <a16:creationId xmlns:a16="http://schemas.microsoft.com/office/drawing/2014/main" id="{120AFD40-4627-4EBC-8062-D02C3D11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6715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F27CE"/>
                </a:solidFill>
              </a:defRPr>
            </a:pPr>
            <a:r>
              <a:rPr sz="1650" b="1" i="0">
                <a:solidFill>
                  <a:srgbClr val="2F27CE"/>
                </a:solidFill>
              </a:rPr>
              <a:t>Recommended message</a:t>
            </a:r>
          </a:p>
        </p:txBody>
      </p:sp>
      <p:sp>
        <p:nvSpPr>
          <p:cNvPr id="12" name="message-copy">
            <a:extLst xmlns:a="http://schemas.openxmlformats.org/drawingml/2006/main">
              <a:ext uri="{FF2B5EF4-FFF2-40B4-BE49-F238E27FC236}">
                <a16:creationId xmlns:a16="http://schemas.microsoft.com/office/drawing/2014/main" id="{69E60495-3A32-4634-97E8-B3AA842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85344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75" b="1" i="0">
                <a:solidFill>
                  <a:srgbClr val="172033"/>
                </a:solidFill>
              </a:defRPr>
            </a:pPr>
            <a:r>
              <a:rPr sz="3075" b="1" i="0">
                <a:solidFill>
                  <a:srgbClr val="172033"/>
                </a:solidFill>
              </a:rPr>
              <a:t>Crewtrace helps California contractors stop payroll leakage with GPS-verified time records, jobsite geofencing, and payroll-ready exports.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650B2A5-6D86-4BB5-836E-CD2605BE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867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1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BF1E709-3965-4E50-B08D-456DA12F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8867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Crewtrace marketing plan | June 2026</a:t>
            </a:r>
          </a:p>
        </p:txBody>
      </p:sp>
    </p:spTree>
    <p:extLst>
      <p:ext uri="{BB962C8B-B14F-4D97-AF65-F5344CB8AC3E}">
        <p14:creationId xmlns:p14="http://schemas.microsoft.com/office/powerpoint/2010/main" val="20774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offer">
            <a:extLst xmlns:a="http://schemas.openxmlformats.org/drawingml/2006/main">
              <a:ext uri="{FF2B5EF4-FFF2-40B4-BE49-F238E27FC236}">
                <a16:creationId xmlns:a16="http://schemas.microsoft.com/office/drawing/2014/main" id="{51671393-6BBC-4E75-B9E5-603B7550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764286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Offer">
            <a:extLst xmlns:a="http://schemas.openxmlformats.org/drawingml/2006/main">
              <a:ext uri="{FF2B5EF4-FFF2-40B4-BE49-F238E27FC236}">
                <a16:creationId xmlns:a16="http://schemas.microsoft.com/office/drawing/2014/main" id="{19D430C8-C489-445B-952F-92CE7C84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Offer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C6EE39-50A5-44D3-8BD7-1395C03E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95440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Make onboarding the thing they buy first.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5CEB13-C81D-4EC4-A896-AAD4920D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9391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The product needs implementation to create the proof moment. Price that work explicitly.</a:t>
            </a:r>
          </a:p>
        </p:txBody>
      </p:sp>
      <p:sp>
        <p:nvSpPr>
          <p:cNvPr id="5" name="sprint-title">
            <a:extLst xmlns:a="http://schemas.openxmlformats.org/drawingml/2006/main">
              <a:ext uri="{FF2B5EF4-FFF2-40B4-BE49-F238E27FC236}">
                <a16:creationId xmlns:a16="http://schemas.microsoft.com/office/drawing/2014/main" id="{337C10B9-FC2A-417A-90C8-C8FECE10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8382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 i="0">
                <a:solidFill>
                  <a:srgbClr val="172033"/>
                </a:solidFill>
              </a:defRPr>
            </a:pPr>
            <a:r>
              <a:rPr sz="3975" b="1" i="0">
                <a:solidFill>
                  <a:srgbClr val="172033"/>
                </a:solidFill>
              </a:rPr>
              <a:t>Payroll Leakage Recovery Sprint</a:t>
            </a:r>
          </a:p>
        </p:txBody>
      </p:sp>
      <p:sp>
        <p:nvSpPr>
          <p:cNvPr id="6" name="sprint-copy">
            <a:extLst xmlns:a="http://schemas.openxmlformats.org/drawingml/2006/main">
              <a:ext uri="{FF2B5EF4-FFF2-40B4-BE49-F238E27FC236}">
                <a16:creationId xmlns:a16="http://schemas.microsoft.com/office/drawing/2014/main" id="{330A6363-B827-447B-8D97-262CFD26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77724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667085"/>
                </a:solidFill>
              </a:defRPr>
            </a:pPr>
            <a:r>
              <a:rPr sz="2250" b="0" i="0">
                <a:solidFill>
                  <a:srgbClr val="667085"/>
                </a:solidFill>
              </a:rPr>
              <a:t>In 14 days, review the current time process, configure active jobsites, onboard the crew, and show whether unverified hours are costing money before the next payroll run.</a:t>
            </a:r>
          </a:p>
        </p:txBody>
      </p:sp>
      <p:sp>
        <p:nvSpPr>
          <p:cNvPr id="7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C78E06F8-AEB3-4DE0-9D99-18B19294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50ED74CA-1EB3-4D8C-A9BC-28751A00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802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Time-process audit</a:t>
            </a:r>
          </a:p>
        </p:txBody>
      </p:sp>
      <p:sp>
        <p:nvSpPr>
          <p:cNvPr id="9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FBE7566B-6E66-4FAF-B637-179326B6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70D2DB9-698A-4145-923F-C989060C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0"/>
            <a:ext cx="802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Jobsite/geofence setup</a:t>
            </a:r>
          </a:p>
        </p:txBody>
      </p:sp>
      <p:sp>
        <p:nvSpPr>
          <p:cNvPr id="11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DF7E0FB6-154C-4212-A625-88A0CF30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532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B6FE3914-8846-45E9-BA38-6BB92CCD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53200"/>
            <a:ext cx="802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Crew onboarding</a:t>
            </a:r>
          </a:p>
        </p:txBody>
      </p:sp>
      <p:sp>
        <p:nvSpPr>
          <p:cNvPr id="13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F32E67CE-184B-4E7E-AA7D-C26F8ADB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04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06E811B7-1E1B-4AA7-934B-1EF4436E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10400"/>
            <a:ext cx="802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Payroll-review checkpoint</a:t>
            </a:r>
          </a:p>
        </p:txBody>
      </p:sp>
      <p:sp>
        <p:nvSpPr>
          <p:cNvPr id="15" name="bullet-mark-5">
            <a:extLst xmlns:a="http://schemas.openxmlformats.org/drawingml/2006/main">
              <a:ext uri="{FF2B5EF4-FFF2-40B4-BE49-F238E27FC236}">
                <a16:creationId xmlns:a16="http://schemas.microsoft.com/office/drawing/2014/main" id="{5ECF24C8-8DAA-4C33-A7FA-843590FF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676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F27CE"/>
                </a:solidFill>
              </a:defRPr>
            </a:pPr>
            <a:r>
              <a:rPr sz="18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6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7A83F5AE-6B0D-4511-8ABC-3DDE450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467600"/>
            <a:ext cx="802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033"/>
                </a:solidFill>
              </a:defRPr>
            </a:pPr>
            <a:r>
              <a:rPr sz="1875" b="0" i="0">
                <a:solidFill>
                  <a:srgbClr val="172033"/>
                </a:solidFill>
              </a:rPr>
              <a:t>Owner-facing leakage summary</a:t>
            </a:r>
          </a:p>
        </p:txBody>
      </p:sp>
      <p:sp>
        <p:nvSpPr>
          <p:cNvPr id="17" name="metric-value-first-10 customer implementation">
            <a:extLst xmlns:a="http://schemas.openxmlformats.org/drawingml/2006/main">
              <a:ext uri="{FF2B5EF4-FFF2-40B4-BE49-F238E27FC236}">
                <a16:creationId xmlns:a16="http://schemas.microsoft.com/office/drawing/2014/main" id="{724A6955-C8D4-4443-BBA1-C8198EB9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43300"/>
            <a:ext cx="7677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47857"/>
                </a:solidFill>
              </a:defRPr>
            </a:pPr>
            <a:r>
              <a:rPr sz="4800" b="1" i="0">
                <a:solidFill>
                  <a:srgbClr val="047857"/>
                </a:solidFill>
              </a:rPr>
              <a:t>$1,000</a:t>
            </a:r>
          </a:p>
        </p:txBody>
      </p:sp>
      <p:sp>
        <p:nvSpPr>
          <p:cNvPr id="18" name="metric-label-first-10 customer implementation">
            <a:extLst xmlns:a="http://schemas.openxmlformats.org/drawingml/2006/main">
              <a:ext uri="{FF2B5EF4-FFF2-40B4-BE49-F238E27FC236}">
                <a16:creationId xmlns:a16="http://schemas.microsoft.com/office/drawing/2014/main" id="{B3027BA1-361D-44A0-9FB8-136DC6A2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624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first-10 customer implementation</a:t>
            </a:r>
          </a:p>
        </p:txBody>
      </p:sp>
      <p:sp>
        <p:nvSpPr>
          <p:cNvPr id="19" name="metric-value-recommended software floor">
            <a:extLst xmlns:a="http://schemas.openxmlformats.org/drawingml/2006/main">
              <a:ext uri="{FF2B5EF4-FFF2-40B4-BE49-F238E27FC236}">
                <a16:creationId xmlns:a16="http://schemas.microsoft.com/office/drawing/2014/main" id="{D98872C2-C76C-48AB-860E-A5CE0B1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819650"/>
            <a:ext cx="7677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2F27CE"/>
                </a:solidFill>
              </a:defRPr>
            </a:pPr>
            <a:r>
              <a:rPr sz="4800" b="1" i="0">
                <a:solidFill>
                  <a:srgbClr val="2F27CE"/>
                </a:solidFill>
              </a:rPr>
              <a:t>$150/mo</a:t>
            </a:r>
          </a:p>
        </p:txBody>
      </p:sp>
      <p:sp>
        <p:nvSpPr>
          <p:cNvPr id="20" name="metric-label-recommended software floor">
            <a:extLst xmlns:a="http://schemas.openxmlformats.org/drawingml/2006/main">
              <a:ext uri="{FF2B5EF4-FFF2-40B4-BE49-F238E27FC236}">
                <a16:creationId xmlns:a16="http://schemas.microsoft.com/office/drawing/2014/main" id="{444C2858-9684-46F3-8A1E-AD84B747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1975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recommended software floor</a:t>
            </a:r>
          </a:p>
        </p:txBody>
      </p:sp>
      <p:sp>
        <p:nvSpPr>
          <p:cNvPr id="21" name="metric-value-larger crews / scale plan">
            <a:extLst xmlns:a="http://schemas.openxmlformats.org/drawingml/2006/main">
              <a:ext uri="{FF2B5EF4-FFF2-40B4-BE49-F238E27FC236}">
                <a16:creationId xmlns:a16="http://schemas.microsoft.com/office/drawing/2014/main" id="{C3446E66-0C15-4FB0-A54C-483661D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076950"/>
            <a:ext cx="7677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2F27CE"/>
                </a:solidFill>
              </a:defRPr>
            </a:pPr>
            <a:r>
              <a:rPr sz="4800" b="1" i="0">
                <a:solidFill>
                  <a:srgbClr val="2F27CE"/>
                </a:solidFill>
              </a:rPr>
              <a:t>$250/mo</a:t>
            </a:r>
          </a:p>
        </p:txBody>
      </p:sp>
      <p:sp>
        <p:nvSpPr>
          <p:cNvPr id="22" name="metric-label-larger crews / scale plan">
            <a:extLst xmlns:a="http://schemas.openxmlformats.org/drawingml/2006/main">
              <a:ext uri="{FF2B5EF4-FFF2-40B4-BE49-F238E27FC236}">
                <a16:creationId xmlns:a16="http://schemas.microsoft.com/office/drawing/2014/main" id="{EB514FFE-2A1B-41E3-B6E8-FF25E723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896100"/>
            <a:ext cx="767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larger crews / scale plan</a:t>
            </a:r>
          </a:p>
        </p:txBody>
      </p:sp>
      <p:sp>
        <p:nvSpPr>
          <p:cNvPr id="23" name="pricing-warning">
            <a:extLst xmlns:a="http://schemas.openxmlformats.org/drawingml/2006/main">
              <a:ext uri="{FF2B5EF4-FFF2-40B4-BE49-F238E27FC236}">
                <a16:creationId xmlns:a16="http://schemas.microsoft.com/office/drawing/2014/main" id="{C83AE5C4-4F86-42EC-A2F3-942CDDB8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353300"/>
            <a:ext cx="5334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2410C"/>
                </a:solidFill>
              </a:defRPr>
            </a:pPr>
            <a:r>
              <a:rPr sz="1875" b="1" i="0">
                <a:solidFill>
                  <a:srgbClr val="C2410C"/>
                </a:solidFill>
              </a:rPr>
              <a:t>Do not make onboarding optional. It is the path to the outcome.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D7BDD2A-0BC6-443A-B2B3-BF775844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439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25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C90A3F1-35A6-47A8-BBA8-03803AA1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8343900"/>
            <a:ext cx="6438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Pricing remains flexible; recommendation is to preserve paid implementation and simplify monthly tiers.</a:t>
            </a:r>
          </a:p>
        </p:txBody>
      </p:sp>
    </p:spTree>
    <p:extLst>
      <p:ext uri="{BB962C8B-B14F-4D97-AF65-F5344CB8AC3E}">
        <p14:creationId xmlns:p14="http://schemas.microsoft.com/office/powerpoint/2010/main" val="1350177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channel-mix">
            <a:extLst xmlns:a="http://schemas.openxmlformats.org/drawingml/2006/main">
              <a:ext uri="{FF2B5EF4-FFF2-40B4-BE49-F238E27FC236}">
                <a16:creationId xmlns:a16="http://schemas.microsoft.com/office/drawing/2014/main" id="{58128C7D-99B1-41F0-A173-B2CD433A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1308830" cy="6248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Channel mix">
            <a:extLst xmlns:a="http://schemas.openxmlformats.org/drawingml/2006/main">
              <a:ext uri="{FF2B5EF4-FFF2-40B4-BE49-F238E27FC236}">
                <a16:creationId xmlns:a16="http://schemas.microsoft.com/office/drawing/2014/main" id="{77FBD800-4943-44AF-AF77-D109D9E2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933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Channel mix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12326B-A0C2-4550-95E6-253A66B7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105537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Make conversations the constraint, not traffic.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7D48013-A730-41EA-A3E3-90512959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0020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The next month is about creating qualified owner conversations and paid audits, not maximizing impressions.</a:t>
            </a:r>
          </a:p>
        </p:txBody>
      </p:sp>
      <p:sp>
        <p:nvSpPr>
          <p:cNvPr id="5" name="h1">
            <a:extLst xmlns:a="http://schemas.openxmlformats.org/drawingml/2006/main">
              <a:ext uri="{FF2B5EF4-FFF2-40B4-BE49-F238E27FC236}">
                <a16:creationId xmlns:a16="http://schemas.microsoft.com/office/drawing/2014/main" id="{97E77CA7-F9C5-4F65-89EA-4FD17FDA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F27CE"/>
                </a:solidFill>
              </a:defRPr>
            </a:pPr>
            <a:r>
              <a:rPr sz="1725" b="1" i="0">
                <a:solidFill>
                  <a:srgbClr val="2F27CE"/>
                </a:solidFill>
              </a:rPr>
              <a:t>Channel</a:t>
            </a:r>
          </a:p>
        </p:txBody>
      </p:sp>
      <p:sp>
        <p:nvSpPr>
          <p:cNvPr id="6" name="h2">
            <a:extLst xmlns:a="http://schemas.openxmlformats.org/drawingml/2006/main">
              <a:ext uri="{FF2B5EF4-FFF2-40B4-BE49-F238E27FC236}">
                <a16:creationId xmlns:a16="http://schemas.microsoft.com/office/drawing/2014/main" id="{4EC55265-7175-4DDC-B9E7-BD3CBFA7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567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F27CE"/>
                </a:solidFill>
              </a:defRPr>
            </a:pPr>
            <a:r>
              <a:rPr sz="1725" b="1" i="0">
                <a:solidFill>
                  <a:srgbClr val="2F27CE"/>
                </a:solidFill>
              </a:rPr>
              <a:t>Role</a:t>
            </a:r>
          </a:p>
        </p:txBody>
      </p:sp>
      <p:sp>
        <p:nvSpPr>
          <p:cNvPr id="7" name="h3">
            <a:extLst xmlns:a="http://schemas.openxmlformats.org/drawingml/2006/main">
              <a:ext uri="{FF2B5EF4-FFF2-40B4-BE49-F238E27FC236}">
                <a16:creationId xmlns:a16="http://schemas.microsoft.com/office/drawing/2014/main" id="{03764D63-C67C-4B00-B71C-20E54E2A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095750"/>
            <a:ext cx="3638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F27CE"/>
                </a:solidFill>
              </a:defRPr>
            </a:pPr>
            <a:r>
              <a:rPr sz="1725" b="1" i="0">
                <a:solidFill>
                  <a:srgbClr val="2F27CE"/>
                </a:solidFill>
              </a:rPr>
              <a:t>Owner</a:t>
            </a:r>
          </a:p>
        </p:txBody>
      </p:sp>
      <p:sp>
        <p:nvSpPr>
          <p:cNvPr id="8" name="h4">
            <a:extLst xmlns:a="http://schemas.openxmlformats.org/drawingml/2006/main">
              <a:ext uri="{FF2B5EF4-FFF2-40B4-BE49-F238E27FC236}">
                <a16:creationId xmlns:a16="http://schemas.microsoft.com/office/drawing/2014/main" id="{768CC5D7-CB0C-4A51-9AF0-479D53AD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095750"/>
            <a:ext cx="3181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F27CE"/>
                </a:solidFill>
              </a:defRPr>
            </a:pPr>
            <a:r>
              <a:rPr sz="1725" b="1" i="0">
                <a:solidFill>
                  <a:srgbClr val="2F27CE"/>
                </a:solidFill>
              </a:rPr>
              <a:t>Priority</a:t>
            </a:r>
          </a:p>
        </p:txBody>
      </p:sp>
      <p:sp>
        <p:nvSpPr>
          <p:cNvPr id="9" name="c1">
            <a:extLst xmlns:a="http://schemas.openxmlformats.org/drawingml/2006/main">
              <a:ext uri="{FF2B5EF4-FFF2-40B4-BE49-F238E27FC236}">
                <a16:creationId xmlns:a16="http://schemas.microsoft.com/office/drawing/2014/main" id="{A8117512-AE1D-49D0-B076-524E4FB7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</a:defRPr>
            </a:pPr>
            <a:r>
              <a:rPr sz="2100" b="1" i="0">
                <a:solidFill>
                  <a:srgbClr val="172033"/>
                </a:solidFill>
              </a:rPr>
              <a:t>Partner-led calls</a:t>
            </a:r>
          </a:p>
        </p:txBody>
      </p:sp>
      <p:sp>
        <p:nvSpPr>
          <p:cNvPr id="10" name="r1">
            <a:extLst xmlns:a="http://schemas.openxmlformats.org/drawingml/2006/main">
              <a:ext uri="{FF2B5EF4-FFF2-40B4-BE49-F238E27FC236}">
                <a16:creationId xmlns:a16="http://schemas.microsoft.com/office/drawing/2014/main" id="{991C0A2E-63A3-4E16-9CFA-AC9EFAFE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6245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Contractor-to-contractor trust and close motion</a:t>
            </a:r>
          </a:p>
        </p:txBody>
      </p:sp>
      <p:sp>
        <p:nvSpPr>
          <p:cNvPr id="11" name="o1">
            <a:extLst xmlns:a="http://schemas.openxmlformats.org/drawingml/2006/main">
              <a:ext uri="{FF2B5EF4-FFF2-40B4-BE49-F238E27FC236}">
                <a16:creationId xmlns:a16="http://schemas.microsoft.com/office/drawing/2014/main" id="{EB3FD0EC-DB9F-450C-A0B1-3F1795AB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362450"/>
            <a:ext cx="363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Partner</a:t>
            </a:r>
          </a:p>
        </p:txBody>
      </p:sp>
      <p:sp>
        <p:nvSpPr>
          <p:cNvPr id="12" name="p1">
            <a:extLst xmlns:a="http://schemas.openxmlformats.org/drawingml/2006/main">
              <a:ext uri="{FF2B5EF4-FFF2-40B4-BE49-F238E27FC236}">
                <a16:creationId xmlns:a16="http://schemas.microsoft.com/office/drawing/2014/main" id="{4B3A80F0-F655-4494-BE03-0C608E4E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181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47857"/>
                </a:solidFill>
              </a:defRPr>
            </a:pPr>
            <a:r>
              <a:rPr sz="2250" b="1" i="0">
                <a:solidFill>
                  <a:srgbClr val="047857"/>
                </a:solidFill>
              </a:rPr>
              <a:t>P1</a:t>
            </a:r>
          </a:p>
        </p:txBody>
      </p:sp>
      <p:sp>
        <p:nvSpPr>
          <p:cNvPr id="13" name="c2">
            <a:extLst xmlns:a="http://schemas.openxmlformats.org/drawingml/2006/main">
              <a:ext uri="{FF2B5EF4-FFF2-40B4-BE49-F238E27FC236}">
                <a16:creationId xmlns:a16="http://schemas.microsoft.com/office/drawing/2014/main" id="{0989CD16-3DB3-4105-B747-1CBD7AEF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</a:defRPr>
            </a:pPr>
            <a:r>
              <a:rPr sz="2100" b="1" i="0">
                <a:solidFill>
                  <a:srgbClr val="172033"/>
                </a:solidFill>
              </a:rPr>
              <a:t>Warm intros</a:t>
            </a:r>
          </a:p>
        </p:txBody>
      </p:sp>
      <p:sp>
        <p:nvSpPr>
          <p:cNvPr id="14" name="r2">
            <a:extLst xmlns:a="http://schemas.openxmlformats.org/drawingml/2006/main">
              <a:ext uri="{FF2B5EF4-FFF2-40B4-BE49-F238E27FC236}">
                <a16:creationId xmlns:a16="http://schemas.microsoft.com/office/drawing/2014/main" id="{B06B8FC9-719C-4B2E-ABED-1FB90BC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0535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Use waterproofing reference and paying GC proof</a:t>
            </a:r>
          </a:p>
        </p:txBody>
      </p:sp>
      <p:sp>
        <p:nvSpPr>
          <p:cNvPr id="15" name="o2">
            <a:extLst xmlns:a="http://schemas.openxmlformats.org/drawingml/2006/main">
              <a:ext uri="{FF2B5EF4-FFF2-40B4-BE49-F238E27FC236}">
                <a16:creationId xmlns:a16="http://schemas.microsoft.com/office/drawing/2014/main" id="{1D3F8526-3504-427E-975B-8530606A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05350"/>
            <a:ext cx="363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Both</a:t>
            </a:r>
          </a:p>
        </p:txBody>
      </p:sp>
      <p:sp>
        <p:nvSpPr>
          <p:cNvPr id="16" name="p2">
            <a:extLst xmlns:a="http://schemas.openxmlformats.org/drawingml/2006/main">
              <a:ext uri="{FF2B5EF4-FFF2-40B4-BE49-F238E27FC236}">
                <a16:creationId xmlns:a16="http://schemas.microsoft.com/office/drawing/2014/main" id="{E178FB40-5CFE-470D-AED6-F63B4A65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705350"/>
            <a:ext cx="3181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47857"/>
                </a:solidFill>
              </a:defRPr>
            </a:pPr>
            <a:r>
              <a:rPr sz="2250" b="1" i="0">
                <a:solidFill>
                  <a:srgbClr val="047857"/>
                </a:solidFill>
              </a:rPr>
              <a:t>P1</a:t>
            </a:r>
          </a:p>
        </p:txBody>
      </p:sp>
      <p:sp>
        <p:nvSpPr>
          <p:cNvPr id="17" name="c3">
            <a:extLst xmlns:a="http://schemas.openxmlformats.org/drawingml/2006/main">
              <a:ext uri="{FF2B5EF4-FFF2-40B4-BE49-F238E27FC236}">
                <a16:creationId xmlns:a16="http://schemas.microsoft.com/office/drawing/2014/main" id="{A8C82326-FC15-4514-9984-6795E809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</a:defRPr>
            </a:pPr>
            <a:r>
              <a:rPr sz="2100" b="1" i="0">
                <a:solidFill>
                  <a:srgbClr val="172033"/>
                </a:solidFill>
              </a:rPr>
              <a:t>Bookkeepers / QuickBooks</a:t>
            </a:r>
          </a:p>
        </p:txBody>
      </p:sp>
      <p:sp>
        <p:nvSpPr>
          <p:cNvPr id="18" name="r3">
            <a:extLst xmlns:a="http://schemas.openxmlformats.org/drawingml/2006/main">
              <a:ext uri="{FF2B5EF4-FFF2-40B4-BE49-F238E27FC236}">
                <a16:creationId xmlns:a16="http://schemas.microsoft.com/office/drawing/2014/main" id="{9C7889E0-2092-4044-BC13-25E3EF34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4825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Referral channel from people who see payroll mess</a:t>
            </a:r>
          </a:p>
        </p:txBody>
      </p:sp>
      <p:sp>
        <p:nvSpPr>
          <p:cNvPr id="19" name="o3">
            <a:extLst xmlns:a="http://schemas.openxmlformats.org/drawingml/2006/main">
              <a:ext uri="{FF2B5EF4-FFF2-40B4-BE49-F238E27FC236}">
                <a16:creationId xmlns:a16="http://schemas.microsoft.com/office/drawing/2014/main" id="{69EE40AD-044B-4563-AA93-F7A7E730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48250"/>
            <a:ext cx="363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You</a:t>
            </a:r>
          </a:p>
        </p:txBody>
      </p:sp>
      <p:sp>
        <p:nvSpPr>
          <p:cNvPr id="20" name="p3">
            <a:extLst xmlns:a="http://schemas.openxmlformats.org/drawingml/2006/main">
              <a:ext uri="{FF2B5EF4-FFF2-40B4-BE49-F238E27FC236}">
                <a16:creationId xmlns:a16="http://schemas.microsoft.com/office/drawing/2014/main" id="{6637E34F-A219-4F4A-BDB0-F2A47C13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048250"/>
            <a:ext cx="3181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47857"/>
                </a:solidFill>
              </a:defRPr>
            </a:pPr>
            <a:r>
              <a:rPr sz="2250" b="1" i="0">
                <a:solidFill>
                  <a:srgbClr val="047857"/>
                </a:solidFill>
              </a:rPr>
              <a:t>P1</a:t>
            </a:r>
          </a:p>
        </p:txBody>
      </p:sp>
      <p:sp>
        <p:nvSpPr>
          <p:cNvPr id="21" name="c4">
            <a:extLst xmlns:a="http://schemas.openxmlformats.org/drawingml/2006/main">
              <a:ext uri="{FF2B5EF4-FFF2-40B4-BE49-F238E27FC236}">
                <a16:creationId xmlns:a16="http://schemas.microsoft.com/office/drawing/2014/main" id="{56852D65-AAE4-4D05-9D2F-72CE33C6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</a:defRPr>
            </a:pPr>
            <a:r>
              <a:rPr sz="2100" b="1" i="0">
                <a:solidFill>
                  <a:srgbClr val="172033"/>
                </a:solidFill>
              </a:rPr>
              <a:t>Google Search</a:t>
            </a:r>
          </a:p>
        </p:txBody>
      </p:sp>
      <p:sp>
        <p:nvSpPr>
          <p:cNvPr id="22" name="r4">
            <a:extLst xmlns:a="http://schemas.openxmlformats.org/drawingml/2006/main">
              <a:ext uri="{FF2B5EF4-FFF2-40B4-BE49-F238E27FC236}">
                <a16:creationId xmlns:a16="http://schemas.microsoft.com/office/drawing/2014/main" id="{8A53B1E4-830C-497B-88D3-8359962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9115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Capture high-intent demand; route to calculator/call</a:t>
            </a:r>
          </a:p>
        </p:txBody>
      </p:sp>
      <p:sp>
        <p:nvSpPr>
          <p:cNvPr id="23" name="o4">
            <a:extLst xmlns:a="http://schemas.openxmlformats.org/drawingml/2006/main">
              <a:ext uri="{FF2B5EF4-FFF2-40B4-BE49-F238E27FC236}">
                <a16:creationId xmlns:a16="http://schemas.microsoft.com/office/drawing/2014/main" id="{582D076B-F16F-445B-8D93-AA27C85E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91150"/>
            <a:ext cx="363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You</a:t>
            </a:r>
          </a:p>
        </p:txBody>
      </p:sp>
      <p:sp>
        <p:nvSpPr>
          <p:cNvPr id="24" name="p4">
            <a:extLst xmlns:a="http://schemas.openxmlformats.org/drawingml/2006/main">
              <a:ext uri="{FF2B5EF4-FFF2-40B4-BE49-F238E27FC236}">
                <a16:creationId xmlns:a16="http://schemas.microsoft.com/office/drawing/2014/main" id="{E55E797E-CE0E-4E6A-8CBD-59FDA814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391150"/>
            <a:ext cx="3181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F27CE"/>
                </a:solidFill>
              </a:defRPr>
            </a:pPr>
            <a:r>
              <a:rPr sz="2250" b="1" i="0">
                <a:solidFill>
                  <a:srgbClr val="2F27CE"/>
                </a:solidFill>
              </a:rPr>
              <a:t>P2</a:t>
            </a:r>
          </a:p>
        </p:txBody>
      </p:sp>
      <p:sp>
        <p:nvSpPr>
          <p:cNvPr id="25" name="c5">
            <a:extLst xmlns:a="http://schemas.openxmlformats.org/drawingml/2006/main">
              <a:ext uri="{FF2B5EF4-FFF2-40B4-BE49-F238E27FC236}">
                <a16:creationId xmlns:a16="http://schemas.microsoft.com/office/drawing/2014/main" id="{816915E4-788C-49CF-AC8E-A7A09D3C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4095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33"/>
                </a:solidFill>
              </a:defRPr>
            </a:pPr>
            <a:r>
              <a:rPr sz="2100" b="1" i="0">
                <a:solidFill>
                  <a:srgbClr val="172033"/>
                </a:solidFill>
              </a:rPr>
              <a:t>Demand Gen</a:t>
            </a:r>
          </a:p>
        </p:txBody>
      </p:sp>
      <p:sp>
        <p:nvSpPr>
          <p:cNvPr id="26" name="r5">
            <a:extLst xmlns:a="http://schemas.openxmlformats.org/drawingml/2006/main">
              <a:ext uri="{FF2B5EF4-FFF2-40B4-BE49-F238E27FC236}">
                <a16:creationId xmlns:a16="http://schemas.microsoft.com/office/drawing/2014/main" id="{16A27C6D-4DFE-4D71-8E5C-A1879853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734050"/>
            <a:ext cx="567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Retargeting only until it proves booked-call value</a:t>
            </a:r>
          </a:p>
        </p:txBody>
      </p:sp>
      <p:sp>
        <p:nvSpPr>
          <p:cNvPr id="27" name="o5">
            <a:extLst xmlns:a="http://schemas.openxmlformats.org/drawingml/2006/main">
              <a:ext uri="{FF2B5EF4-FFF2-40B4-BE49-F238E27FC236}">
                <a16:creationId xmlns:a16="http://schemas.microsoft.com/office/drawing/2014/main" id="{936EDE26-8CA0-4CDC-A695-CF08F9B6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734050"/>
            <a:ext cx="363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You</a:t>
            </a:r>
          </a:p>
        </p:txBody>
      </p:sp>
      <p:sp>
        <p:nvSpPr>
          <p:cNvPr id="28" name="p5">
            <a:extLst xmlns:a="http://schemas.openxmlformats.org/drawingml/2006/main">
              <a:ext uri="{FF2B5EF4-FFF2-40B4-BE49-F238E27FC236}">
                <a16:creationId xmlns:a16="http://schemas.microsoft.com/office/drawing/2014/main" id="{2BDC692B-32EE-41DD-8514-021907DF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734050"/>
            <a:ext cx="3181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C2410C"/>
                </a:solidFill>
              </a:defRPr>
            </a:pPr>
            <a:r>
              <a:rPr sz="2250" b="1" i="0">
                <a:solidFill>
                  <a:srgbClr val="C2410C"/>
                </a:solidFill>
              </a:rPr>
              <a:t>P3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4EFB0D2-E8F4-49A8-AFC3-8CB100D6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151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30" name="footer-text">
            <a:extLst xmlns:a="http://schemas.openxmlformats.org/drawingml/2006/main">
              <a:ext uri="{FF2B5EF4-FFF2-40B4-BE49-F238E27FC236}">
                <a16:creationId xmlns:a16="http://schemas.microsoft.com/office/drawing/2014/main" id="{3380E06A-1F1B-42E6-8DD9-082FDE2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5151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Crewtrace marketing plan | June 2026</a:t>
            </a:r>
          </a:p>
        </p:txBody>
      </p:sp>
    </p:spTree>
    <p:extLst>
      <p:ext uri="{BB962C8B-B14F-4D97-AF65-F5344CB8AC3E}">
        <p14:creationId xmlns:p14="http://schemas.microsoft.com/office/powerpoint/2010/main" val="1147785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sales-motion">
            <a:extLst xmlns:a="http://schemas.openxmlformats.org/drawingml/2006/main">
              <a:ext uri="{FF2B5EF4-FFF2-40B4-BE49-F238E27FC236}">
                <a16:creationId xmlns:a16="http://schemas.microsoft.com/office/drawing/2014/main" id="{87C7249C-A684-4BAA-902B-027EC9A6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1349407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Sales motion">
            <a:extLst xmlns:a="http://schemas.openxmlformats.org/drawingml/2006/main">
              <a:ext uri="{FF2B5EF4-FFF2-40B4-BE49-F238E27FC236}">
                <a16:creationId xmlns:a16="http://schemas.microsoft.com/office/drawing/2014/main" id="{AFC805A1-705E-4FF2-9280-B9F92F43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Sales motion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3C7C83-F020-4DBB-812B-E06627D2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31254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Let the construction operator carry the first conversation.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6E6CB6-D479-45B6-BFF8-56FD3C4E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0991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Your partner's industry credibility is the channel advantage. Your role is to make every call easy to run and easy to follow up.</a:t>
            </a:r>
          </a:p>
        </p:txBody>
      </p:sp>
      <p:sp>
        <p:nvSpPr>
          <p:cNvPr id="5" name="partner-label">
            <a:extLst xmlns:a="http://schemas.openxmlformats.org/drawingml/2006/main">
              <a:ext uri="{FF2B5EF4-FFF2-40B4-BE49-F238E27FC236}">
                <a16:creationId xmlns:a16="http://schemas.microsoft.com/office/drawing/2014/main" id="{4273921E-A3EB-427C-A13F-014573AC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47857"/>
                </a:solidFill>
              </a:defRPr>
            </a:pPr>
            <a:r>
              <a:rPr sz="1800" b="1" i="0">
                <a:solidFill>
                  <a:srgbClr val="047857"/>
                </a:solidFill>
              </a:rPr>
              <a:t>Partner owns</a:t>
            </a:r>
          </a:p>
        </p:txBody>
      </p:sp>
      <p:sp>
        <p:nvSpPr>
          <p:cNvPr id="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BFC04723-9F6E-4068-A457-A8EDE1D1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BAE7F2C-EF94-4D1D-85D1-AC413081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744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Owner calls and warm intros</a:t>
            </a:r>
          </a:p>
        </p:txBody>
      </p:sp>
      <p:sp>
        <p:nvSpPr>
          <p:cNvPr id="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E84EAC9B-D250-4674-BC7F-01E4CA9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C739176-7B95-49FF-A805-BC8899BE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744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Peer-to-peer payroll pain conversation</a:t>
            </a:r>
          </a:p>
        </p:txBody>
      </p:sp>
      <p:sp>
        <p:nvSpPr>
          <p:cNvPr id="1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E41FAB2C-9062-4A1E-8C67-866AAE5F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13C0E637-108A-4BB7-8724-37AD2C4C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53050"/>
            <a:ext cx="744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Waterproofing reference story</a:t>
            </a:r>
          </a:p>
        </p:txBody>
      </p:sp>
      <p:sp>
        <p:nvSpPr>
          <p:cNvPr id="1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87013F77-ABEA-458C-BD01-C8BA8BC1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6AB0D785-5A04-4843-A916-2708D74F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48350"/>
            <a:ext cx="7448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Closing the Recovery Sprint</a:t>
            </a:r>
          </a:p>
        </p:txBody>
      </p:sp>
      <p:sp>
        <p:nvSpPr>
          <p:cNvPr id="14" name="you-label">
            <a:extLst xmlns:a="http://schemas.openxmlformats.org/drawingml/2006/main">
              <a:ext uri="{FF2B5EF4-FFF2-40B4-BE49-F238E27FC236}">
                <a16:creationId xmlns:a16="http://schemas.microsoft.com/office/drawing/2014/main" id="{611306BB-4440-4334-9BB0-AAB7905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8210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27CE"/>
                </a:solidFill>
              </a:defRPr>
            </a:pPr>
            <a:r>
              <a:rPr sz="1800" b="1" i="0">
                <a:solidFill>
                  <a:srgbClr val="2F27CE"/>
                </a:solidFill>
              </a:rPr>
              <a:t>You own</a:t>
            </a:r>
          </a:p>
        </p:txBody>
      </p:sp>
      <p:sp>
        <p:nvSpPr>
          <p:cNvPr id="15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6EAF2338-4A87-46F0-8850-CFAB9C02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4340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6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16CACC8-928E-4B71-A6FD-DF1B310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34340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Target-account list</a:t>
            </a:r>
          </a:p>
        </p:txBody>
      </p:sp>
      <p:sp>
        <p:nvSpPr>
          <p:cNvPr id="17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36D74BC9-B8E5-4C52-8F25-B83BE3D0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3870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8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7251896-AB28-4DFB-83F4-2E412577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3870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Ads, landing pages, and calculator funnel</a:t>
            </a:r>
          </a:p>
        </p:txBody>
      </p:sp>
      <p:sp>
        <p:nvSpPr>
          <p:cNvPr id="19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FBAFD318-9A0F-4D39-A93B-BAF4B9E2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530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20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E9D532A7-078E-4D14-BFD0-31546196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35305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Call notes and follow-up materials</a:t>
            </a:r>
          </a:p>
        </p:txBody>
      </p:sp>
      <p:sp>
        <p:nvSpPr>
          <p:cNvPr id="21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4955C023-D0E8-41C8-AB15-F7029E2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8483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22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645AC418-0908-404D-B41C-FE58712D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4835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Demo/product implementation support</a:t>
            </a:r>
          </a:p>
        </p:txBody>
      </p:sp>
      <p:sp>
        <p:nvSpPr>
          <p:cNvPr id="23" name="call-opener">
            <a:extLst xmlns:a="http://schemas.openxmlformats.org/drawingml/2006/main">
              <a:ext uri="{FF2B5EF4-FFF2-40B4-BE49-F238E27FC236}">
                <a16:creationId xmlns:a16="http://schemas.microsoft.com/office/drawing/2014/main" id="{A1723398-6532-4E08-9B7B-E635AD1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17970"/>
            <a:ext cx="165735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call-opener-copy">
            <a:extLst xmlns:a="http://schemas.openxmlformats.org/drawingml/2006/main">
              <a:ext uri="{FF2B5EF4-FFF2-40B4-BE49-F238E27FC236}">
                <a16:creationId xmlns:a16="http://schemas.microsoft.com/office/drawing/2014/main" id="{04C57C5E-91B3-439B-977F-0BC04760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77050"/>
            <a:ext cx="158496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72033"/>
                </a:solidFill>
              </a:defRPr>
            </a:pPr>
            <a:r>
              <a:rPr sz="2250" b="0" i="0">
                <a:solidFill>
                  <a:srgbClr val="172033"/>
                </a:solidFill>
              </a:rPr>
              <a:t>Call opener: “I run a construction company too. We built Crewtrace because paper time and edited punches were costing us money. We helped one contractor find about $2,100/month in payroll leakage. Would it be worth a 10-minute look at whether the same thing is happening in your payroll?”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A898CB2-A264-4FE3-AC66-FBB73596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6106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26" name="footer-text">
            <a:extLst xmlns:a="http://schemas.openxmlformats.org/drawingml/2006/main">
              <a:ext uri="{FF2B5EF4-FFF2-40B4-BE49-F238E27FC236}">
                <a16:creationId xmlns:a16="http://schemas.microsoft.com/office/drawing/2014/main" id="{DED25259-9998-4E16-9DB5-78F974A0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86106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Crewtrace marketing plan | June 2026</a:t>
            </a:r>
          </a:p>
        </p:txBody>
      </p:sp>
    </p:spTree>
    <p:extLst>
      <p:ext uri="{BB962C8B-B14F-4D97-AF65-F5344CB8AC3E}">
        <p14:creationId xmlns:p14="http://schemas.microsoft.com/office/powerpoint/2010/main" val="5932801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paid-search">
            <a:extLst xmlns:a="http://schemas.openxmlformats.org/drawingml/2006/main">
              <a:ext uri="{FF2B5EF4-FFF2-40B4-BE49-F238E27FC236}">
                <a16:creationId xmlns:a16="http://schemas.microsoft.com/office/drawing/2014/main" id="{9DBA2A25-90B4-4EAE-8E07-3757B09E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1232916" cy="40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Paid search">
            <a:extLst xmlns:a="http://schemas.openxmlformats.org/drawingml/2006/main">
              <a:ext uri="{FF2B5EF4-FFF2-40B4-BE49-F238E27FC236}">
                <a16:creationId xmlns:a16="http://schemas.microsoft.com/office/drawing/2014/main" id="{35743E5D-AB5E-48EF-AA94-9F862F06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85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Paid search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21062A-A50A-4660-B7B7-C2A80A1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122110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Keep Search narrow. Treat Demand Gen as unproven.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0D86A4-7196-40E8-86BA-BCBCAFD4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0896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The campaign data is too early to declare failure, but it is clear enough to stop equating cheap clicks with qualified demand.</a:t>
            </a:r>
          </a:p>
        </p:txBody>
      </p:sp>
      <p:sp>
        <p:nvSpPr>
          <p:cNvPr id="5" name="metric-value-Demand Gen clicks, 0 conversions">
            <a:extLst xmlns:a="http://schemas.openxmlformats.org/drawingml/2006/main">
              <a:ext uri="{FF2B5EF4-FFF2-40B4-BE49-F238E27FC236}">
                <a16:creationId xmlns:a16="http://schemas.microsoft.com/office/drawing/2014/main" id="{C19F260E-55B4-459D-8226-39BA2B4B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6477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C2410C"/>
                </a:solidFill>
              </a:defRPr>
            </a:pPr>
            <a:r>
              <a:rPr sz="4800" b="1" i="0">
                <a:solidFill>
                  <a:srgbClr val="C2410C"/>
                </a:solidFill>
              </a:rPr>
              <a:t>687</a:t>
            </a:r>
          </a:p>
        </p:txBody>
      </p:sp>
      <p:sp>
        <p:nvSpPr>
          <p:cNvPr id="6" name="metric-label-Demand Gen clicks, 0 conversions">
            <a:extLst xmlns:a="http://schemas.openxmlformats.org/drawingml/2006/main">
              <a:ext uri="{FF2B5EF4-FFF2-40B4-BE49-F238E27FC236}">
                <a16:creationId xmlns:a16="http://schemas.microsoft.com/office/drawing/2014/main" id="{4C6A46D5-7A21-4FC8-B883-AC7D8ED0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Demand Gen clicks, 0 conversions</a:t>
            </a:r>
          </a:p>
        </p:txBody>
      </p:sp>
      <p:sp>
        <p:nvSpPr>
          <p:cNvPr id="7" name="metric-value-Search clicks, 0 conversions">
            <a:extLst xmlns:a="http://schemas.openxmlformats.org/drawingml/2006/main">
              <a:ext uri="{FF2B5EF4-FFF2-40B4-BE49-F238E27FC236}">
                <a16:creationId xmlns:a16="http://schemas.microsoft.com/office/drawing/2014/main" id="{B7C20B33-A04D-47DE-9F5D-5A34C4C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477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2F27CE"/>
                </a:solidFill>
              </a:defRPr>
            </a:pPr>
            <a:r>
              <a:rPr sz="4800" b="1" i="0">
                <a:solidFill>
                  <a:srgbClr val="2F27CE"/>
                </a:solidFill>
              </a:rPr>
              <a:t>39</a:t>
            </a:r>
          </a:p>
        </p:txBody>
      </p:sp>
      <p:sp>
        <p:nvSpPr>
          <p:cNvPr id="8" name="metric-label-Search clicks, 0 conversions">
            <a:extLst xmlns:a="http://schemas.openxmlformats.org/drawingml/2006/main">
              <a:ext uri="{FF2B5EF4-FFF2-40B4-BE49-F238E27FC236}">
                <a16:creationId xmlns:a16="http://schemas.microsoft.com/office/drawing/2014/main" id="{FA049F36-4122-4617-A730-B667342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Search clicks, 0 conversions</a:t>
            </a:r>
          </a:p>
        </p:txBody>
      </p:sp>
      <p:sp>
        <p:nvSpPr>
          <p:cNvPr id="9" name="metric-value-total ad spend reviewed">
            <a:extLst xmlns:a="http://schemas.openxmlformats.org/drawingml/2006/main">
              <a:ext uri="{FF2B5EF4-FFF2-40B4-BE49-F238E27FC236}">
                <a16:creationId xmlns:a16="http://schemas.microsoft.com/office/drawing/2014/main" id="{9100853F-BE21-4947-B01B-F4A5FE44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81750"/>
            <a:ext cx="6477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172033"/>
                </a:solidFill>
              </a:defRPr>
            </a:pPr>
            <a:r>
              <a:rPr sz="4800" b="1" i="0">
                <a:solidFill>
                  <a:srgbClr val="172033"/>
                </a:solidFill>
              </a:rPr>
              <a:t>$294</a:t>
            </a:r>
          </a:p>
        </p:txBody>
      </p:sp>
      <p:sp>
        <p:nvSpPr>
          <p:cNvPr id="10" name="metric-label-total ad spend reviewed">
            <a:extLst xmlns:a="http://schemas.openxmlformats.org/drawingml/2006/main">
              <a:ext uri="{FF2B5EF4-FFF2-40B4-BE49-F238E27FC236}">
                <a16:creationId xmlns:a16="http://schemas.microsoft.com/office/drawing/2014/main" id="{67C4D9E8-91C7-4A06-AC04-A4942350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818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total ad spend reviewed</a:t>
            </a:r>
          </a:p>
        </p:txBody>
      </p:sp>
      <p:sp>
        <p:nvSpPr>
          <p:cNvPr id="11" name="ads-action-label">
            <a:extLst xmlns:a="http://schemas.openxmlformats.org/drawingml/2006/main">
              <a:ext uri="{FF2B5EF4-FFF2-40B4-BE49-F238E27FC236}">
                <a16:creationId xmlns:a16="http://schemas.microsoft.com/office/drawing/2014/main" id="{508D2491-2C25-4F04-8257-17D6972B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29050"/>
            <a:ext cx="9582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27CE"/>
                </a:solidFill>
              </a:defRPr>
            </a:pPr>
            <a:r>
              <a:rPr sz="1800" b="1" i="0">
                <a:solidFill>
                  <a:srgbClr val="2F27CE"/>
                </a:solidFill>
              </a:rPr>
              <a:t>Action</a:t>
            </a:r>
          </a:p>
        </p:txBody>
      </p:sp>
      <p:sp>
        <p:nvSpPr>
          <p:cNvPr id="12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BA20286C-35D1-461F-A7E3-A2AC2D72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8150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3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7E10FE2-759B-44AB-9FFB-A89EB8BE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81500"/>
            <a:ext cx="9220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Prioritize construction + GPS/geofence + time-clock terms.</a:t>
            </a:r>
          </a:p>
        </p:txBody>
      </p:sp>
      <p:sp>
        <p:nvSpPr>
          <p:cNvPr id="14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B1DD1400-0C1C-4F6D-8DBA-862E4A7C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7680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5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9DB0A8D1-E83D-490F-BCAE-90AE6920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9220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Send high-intent search to payroll-leakage/calculator path.</a:t>
            </a:r>
          </a:p>
        </p:txBody>
      </p:sp>
      <p:sp>
        <p:nvSpPr>
          <p:cNvPr id="16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94D97EF2-709C-4051-9B65-616237CF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7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707CDD8-A484-48FA-9595-C7406D8B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391150"/>
            <a:ext cx="9220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Pause or cap Demand Gen unless used for retargeting.</a:t>
            </a:r>
          </a:p>
        </p:txBody>
      </p:sp>
      <p:sp>
        <p:nvSpPr>
          <p:cNvPr id="18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086C4DF8-E707-4F1C-8D25-6C7EC749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886450"/>
            <a:ext cx="22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F27CE"/>
                </a:solidFill>
              </a:defRPr>
            </a:pPr>
            <a:r>
              <a:rPr sz="2175" b="1" i="0">
                <a:solidFill>
                  <a:srgbClr val="2F27CE"/>
                </a:solidFill>
              </a:rPr>
              <a:t>–</a:t>
            </a:r>
          </a:p>
        </p:txBody>
      </p:sp>
      <p:sp>
        <p:nvSpPr>
          <p:cNvPr id="19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C0EEF197-5298-4C38-AF31-621A24E1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886450"/>
            <a:ext cx="9220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172033"/>
                </a:solidFill>
              </a:defRPr>
            </a:pPr>
            <a:r>
              <a:rPr sz="2175" b="0" i="0">
                <a:solidFill>
                  <a:srgbClr val="172033"/>
                </a:solidFill>
              </a:rPr>
              <a:t>Measure calculator completions and booked-call clicks, not impressions.</a:t>
            </a:r>
          </a:p>
        </p:txBody>
      </p:sp>
      <p:sp>
        <p:nvSpPr>
          <p:cNvPr id="20" name="keywords">
            <a:extLst xmlns:a="http://schemas.openxmlformats.org/drawingml/2006/main">
              <a:ext uri="{FF2B5EF4-FFF2-40B4-BE49-F238E27FC236}">
                <a16:creationId xmlns:a16="http://schemas.microsoft.com/office/drawing/2014/main" id="{75778652-12F6-440E-9E3E-5B02F70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84620"/>
            <a:ext cx="95821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1" name="keyword-copy">
            <a:extLst xmlns:a="http://schemas.openxmlformats.org/drawingml/2006/main">
              <a:ext uri="{FF2B5EF4-FFF2-40B4-BE49-F238E27FC236}">
                <a16:creationId xmlns:a16="http://schemas.microsoft.com/office/drawing/2014/main" id="{F1B7F3EF-FA41-487D-8815-B88D2190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705600"/>
            <a:ext cx="90106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116F"/>
                </a:solidFill>
              </a:defRPr>
            </a:pPr>
            <a:r>
              <a:rPr sz="1875" b="0" i="0">
                <a:solidFill>
                  <a:srgbClr val="17116F"/>
                </a:solidFill>
              </a:rPr>
              <a:t>Core terms: construction time tracking, construction time clock app, GPS time clock app, geofence time clock, contractor time tracking app, QuickBooks construction time tracking.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EF32784-2490-4AEB-90B2-FD4D2E11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05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23" name="footer-text">
            <a:extLst xmlns:a="http://schemas.openxmlformats.org/drawingml/2006/main">
              <a:ext uri="{FF2B5EF4-FFF2-40B4-BE49-F238E27FC236}">
                <a16:creationId xmlns:a16="http://schemas.microsoft.com/office/drawing/2014/main" id="{933D4AAC-3D81-4AD8-B105-312DF5D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7905750"/>
            <a:ext cx="280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AdLoop snapshot: 2026-05-26 to 2026-06-01.</a:t>
            </a:r>
          </a:p>
        </p:txBody>
      </p:sp>
    </p:spTree>
    <p:extLst>
      <p:ext uri="{BB962C8B-B14F-4D97-AF65-F5344CB8AC3E}">
        <p14:creationId xmlns:p14="http://schemas.microsoft.com/office/powerpoint/2010/main" val="2171035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hip-30-day-plan">
            <a:extLst xmlns:a="http://schemas.openxmlformats.org/drawingml/2006/main">
              <a:ext uri="{FF2B5EF4-FFF2-40B4-BE49-F238E27FC236}">
                <a16:creationId xmlns:a16="http://schemas.microsoft.com/office/drawing/2014/main" id="{6F436F21-D133-4D4E-9A23-9305AD4B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1257871" cy="6248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5FF"/>
          </a:solidFill>
        </p:spPr>
      </p:sp>
      <p:sp>
        <p:nvSpPr>
          <p:cNvPr id="2" name="chip-text-30-day plan">
            <a:extLst xmlns:a="http://schemas.openxmlformats.org/drawingml/2006/main">
              <a:ext uri="{FF2B5EF4-FFF2-40B4-BE49-F238E27FC236}">
                <a16:creationId xmlns:a16="http://schemas.microsoft.com/office/drawing/2014/main" id="{93D19F6C-B201-4196-B2C0-F8079277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876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2F27CE"/>
                </a:solidFill>
              </a:defRPr>
            </a:pPr>
            <a:r>
              <a:rPr sz="1425" b="1" i="0">
                <a:solidFill>
                  <a:srgbClr val="2F27CE"/>
                </a:solidFill>
              </a:rPr>
              <a:t>30-day plan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C0BA9F-C794-481C-B8DC-2119071B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8991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72033"/>
                </a:solidFill>
              </a:defRPr>
            </a:pPr>
            <a:r>
              <a:rPr sz="4350" b="1" i="0">
                <a:solidFill>
                  <a:srgbClr val="172033"/>
                </a:solidFill>
              </a:rPr>
              <a:t>The goal is three paid Recovery Sprints.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13CC5A7-26D1-434E-A9ED-08D1989B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0458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67085"/>
                </a:solidFill>
              </a:defRPr>
            </a:pPr>
            <a:r>
              <a:rPr sz="2025" b="0" i="0">
                <a:solidFill>
                  <a:srgbClr val="667085"/>
                </a:solidFill>
              </a:rPr>
              <a:t>If three contractors pay for implementation in 30 days, Crewtrace has a repeatable early sales signal.</a:t>
            </a:r>
          </a:p>
        </p:txBody>
      </p:sp>
      <p:sp>
        <p:nvSpPr>
          <p:cNvPr id="5" name="w1">
            <a:extLst xmlns:a="http://schemas.openxmlformats.org/drawingml/2006/main">
              <a:ext uri="{FF2B5EF4-FFF2-40B4-BE49-F238E27FC236}">
                <a16:creationId xmlns:a16="http://schemas.microsoft.com/office/drawing/2014/main" id="{AE5F2E2E-85A0-41B7-80A0-E392C7F1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15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27CE"/>
                </a:solidFill>
              </a:defRPr>
            </a:pPr>
            <a:r>
              <a:rPr sz="1800" b="1" i="0">
                <a:solidFill>
                  <a:srgbClr val="2F27CE"/>
                </a:solidFill>
              </a:rPr>
              <a:t>Week 1</a:t>
            </a:r>
          </a:p>
        </p:txBody>
      </p:sp>
      <p:sp>
        <p:nvSpPr>
          <p:cNvPr id="6" name="w1-copy">
            <a:extLst xmlns:a="http://schemas.openxmlformats.org/drawingml/2006/main">
              <a:ext uri="{FF2B5EF4-FFF2-40B4-BE49-F238E27FC236}">
                <a16:creationId xmlns:a16="http://schemas.microsoft.com/office/drawing/2014/main" id="{41288288-1772-46B3-B817-91FCA5AB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4152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Package the Sprint, fix credibility copy, build 150 target accounts.</a:t>
            </a:r>
          </a:p>
        </p:txBody>
      </p:sp>
      <p:sp>
        <p:nvSpPr>
          <p:cNvPr id="7" name="w2">
            <a:extLst xmlns:a="http://schemas.openxmlformats.org/drawingml/2006/main">
              <a:ext uri="{FF2B5EF4-FFF2-40B4-BE49-F238E27FC236}">
                <a16:creationId xmlns:a16="http://schemas.microsoft.com/office/drawing/2014/main" id="{F5B4DEA5-9385-4759-BBC6-2B384466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71850"/>
            <a:ext cx="415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27CE"/>
                </a:solidFill>
              </a:defRPr>
            </a:pPr>
            <a:r>
              <a:rPr sz="1800" b="1" i="0">
                <a:solidFill>
                  <a:srgbClr val="2F27CE"/>
                </a:solidFill>
              </a:rPr>
              <a:t>Week 2</a:t>
            </a:r>
          </a:p>
        </p:txBody>
      </p:sp>
      <p:sp>
        <p:nvSpPr>
          <p:cNvPr id="8" name="w2-copy">
            <a:extLst xmlns:a="http://schemas.openxmlformats.org/drawingml/2006/main">
              <a:ext uri="{FF2B5EF4-FFF2-40B4-BE49-F238E27FC236}">
                <a16:creationId xmlns:a16="http://schemas.microsoft.com/office/drawing/2014/main" id="{C8E7F214-7B71-4960-993E-34C5BCF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71900"/>
            <a:ext cx="4152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Partner runs calls. Ask for warm intros. Start bookkeeper outreach.</a:t>
            </a:r>
          </a:p>
        </p:txBody>
      </p:sp>
      <p:sp>
        <p:nvSpPr>
          <p:cNvPr id="9" name="w3">
            <a:extLst xmlns:a="http://schemas.openxmlformats.org/drawingml/2006/main">
              <a:ext uri="{FF2B5EF4-FFF2-40B4-BE49-F238E27FC236}">
                <a16:creationId xmlns:a16="http://schemas.microsoft.com/office/drawing/2014/main" id="{E14E46C6-4E92-4E96-8DD9-B3D3A9E8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415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27CE"/>
                </a:solidFill>
              </a:defRPr>
            </a:pPr>
            <a:r>
              <a:rPr sz="1800" b="1" i="0">
                <a:solidFill>
                  <a:srgbClr val="2F27CE"/>
                </a:solidFill>
              </a:rPr>
              <a:t>Week 3</a:t>
            </a:r>
          </a:p>
        </p:txBody>
      </p:sp>
      <p:sp>
        <p:nvSpPr>
          <p:cNvPr id="10" name="w3-copy">
            <a:extLst xmlns:a="http://schemas.openxmlformats.org/drawingml/2006/main">
              <a:ext uri="{FF2B5EF4-FFF2-40B4-BE49-F238E27FC236}">
                <a16:creationId xmlns:a16="http://schemas.microsoft.com/office/drawing/2014/main" id="{7F74A8B4-E867-4726-81D4-1F049ABA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71900"/>
            <a:ext cx="4152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Run audits, demo around their numbers, create trade-specific proof.</a:t>
            </a:r>
          </a:p>
        </p:txBody>
      </p:sp>
      <p:sp>
        <p:nvSpPr>
          <p:cNvPr id="11" name="w4">
            <a:extLst xmlns:a="http://schemas.openxmlformats.org/drawingml/2006/main">
              <a:ext uri="{FF2B5EF4-FFF2-40B4-BE49-F238E27FC236}">
                <a16:creationId xmlns:a16="http://schemas.microsoft.com/office/drawing/2014/main" id="{3F4A4E85-55CD-4595-87CA-D0041143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371850"/>
            <a:ext cx="415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27CE"/>
                </a:solidFill>
              </a:defRPr>
            </a:pPr>
            <a:r>
              <a:rPr sz="1800" b="1" i="0">
                <a:solidFill>
                  <a:srgbClr val="2F27CE"/>
                </a:solidFill>
              </a:rPr>
              <a:t>Week 4</a:t>
            </a:r>
          </a:p>
        </p:txBody>
      </p:sp>
      <p:sp>
        <p:nvSpPr>
          <p:cNvPr id="12" name="w4-copy">
            <a:extLst xmlns:a="http://schemas.openxmlformats.org/drawingml/2006/main">
              <a:ext uri="{FF2B5EF4-FFF2-40B4-BE49-F238E27FC236}">
                <a16:creationId xmlns:a16="http://schemas.microsoft.com/office/drawing/2014/main" id="{BAE86F71-F9AB-449E-9B48-E78127F1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771900"/>
            <a:ext cx="4152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72033"/>
                </a:solidFill>
              </a:defRPr>
            </a:pPr>
            <a:r>
              <a:rPr sz="2025" b="0" i="0">
                <a:solidFill>
                  <a:srgbClr val="172033"/>
                </a:solidFill>
              </a:rPr>
              <a:t>Close Sprints, review channel data, tighten the next-month playbook.</a:t>
            </a:r>
          </a:p>
        </p:txBody>
      </p:sp>
      <p:sp>
        <p:nvSpPr>
          <p:cNvPr id="13" name="metric-value-target accounts">
            <a:extLst xmlns:a="http://schemas.openxmlformats.org/drawingml/2006/main">
              <a:ext uri="{FF2B5EF4-FFF2-40B4-BE49-F238E27FC236}">
                <a16:creationId xmlns:a16="http://schemas.microsoft.com/office/drawing/2014/main" id="{A5A1BE5F-A6B9-471C-9F0D-B2B3B1A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3829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2F27CE"/>
                </a:solidFill>
              </a:defRPr>
            </a:pPr>
            <a:r>
              <a:rPr sz="4800" b="1" i="0">
                <a:solidFill>
                  <a:srgbClr val="2F27CE"/>
                </a:solidFill>
              </a:rPr>
              <a:t>150</a:t>
            </a:r>
          </a:p>
        </p:txBody>
      </p:sp>
      <p:sp>
        <p:nvSpPr>
          <p:cNvPr id="14" name="metric-label-target accounts">
            <a:extLst xmlns:a="http://schemas.openxmlformats.org/drawingml/2006/main">
              <a:ext uri="{FF2B5EF4-FFF2-40B4-BE49-F238E27FC236}">
                <a16:creationId xmlns:a16="http://schemas.microsoft.com/office/drawing/2014/main" id="{A02D9AEE-5390-4C9C-8A36-189655DE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382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target accounts</a:t>
            </a:r>
          </a:p>
        </p:txBody>
      </p:sp>
      <p:sp>
        <p:nvSpPr>
          <p:cNvPr id="15" name="metric-value-real owner conversations">
            <a:extLst xmlns:a="http://schemas.openxmlformats.org/drawingml/2006/main">
              <a:ext uri="{FF2B5EF4-FFF2-40B4-BE49-F238E27FC236}">
                <a16:creationId xmlns:a16="http://schemas.microsoft.com/office/drawing/2014/main" id="{7A2DA556-E621-4822-A763-E0FFB7EA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81550"/>
            <a:ext cx="3829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47857"/>
                </a:solidFill>
              </a:defRPr>
            </a:pPr>
            <a:r>
              <a:rPr sz="4800" b="1" i="0">
                <a:solidFill>
                  <a:srgbClr val="047857"/>
                </a:solidFill>
              </a:rPr>
              <a:t>20</a:t>
            </a:r>
          </a:p>
        </p:txBody>
      </p:sp>
      <p:sp>
        <p:nvSpPr>
          <p:cNvPr id="16" name="metric-label-real owner conversations">
            <a:extLst xmlns:a="http://schemas.openxmlformats.org/drawingml/2006/main">
              <a:ext uri="{FF2B5EF4-FFF2-40B4-BE49-F238E27FC236}">
                <a16:creationId xmlns:a16="http://schemas.microsoft.com/office/drawing/2014/main" id="{E64A398C-BF6E-414A-86CD-4443DD35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581650"/>
            <a:ext cx="382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real owner conversations</a:t>
            </a:r>
          </a:p>
        </p:txBody>
      </p:sp>
      <p:sp>
        <p:nvSpPr>
          <p:cNvPr id="17" name="metric-value-audits booked">
            <a:extLst xmlns:a="http://schemas.openxmlformats.org/drawingml/2006/main">
              <a:ext uri="{FF2B5EF4-FFF2-40B4-BE49-F238E27FC236}">
                <a16:creationId xmlns:a16="http://schemas.microsoft.com/office/drawing/2014/main" id="{98AC4662-A462-48A1-BAF3-1C1CB66E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81550"/>
            <a:ext cx="3829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47857"/>
                </a:solidFill>
              </a:defRPr>
            </a:pPr>
            <a:r>
              <a:rPr sz="4800" b="1" i="0">
                <a:solidFill>
                  <a:srgbClr val="047857"/>
                </a:solidFill>
              </a:rPr>
              <a:t>8</a:t>
            </a:r>
          </a:p>
        </p:txBody>
      </p:sp>
      <p:sp>
        <p:nvSpPr>
          <p:cNvPr id="18" name="metric-label-audits booked">
            <a:extLst xmlns:a="http://schemas.openxmlformats.org/drawingml/2006/main">
              <a:ext uri="{FF2B5EF4-FFF2-40B4-BE49-F238E27FC236}">
                <a16:creationId xmlns:a16="http://schemas.microsoft.com/office/drawing/2014/main" id="{B9F3F372-384F-45E4-BB1B-0941A34C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81650"/>
            <a:ext cx="382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audits booked</a:t>
            </a:r>
          </a:p>
        </p:txBody>
      </p:sp>
      <p:sp>
        <p:nvSpPr>
          <p:cNvPr id="19" name="metric-value-paid Sprints sold">
            <a:extLst xmlns:a="http://schemas.openxmlformats.org/drawingml/2006/main">
              <a:ext uri="{FF2B5EF4-FFF2-40B4-BE49-F238E27FC236}">
                <a16:creationId xmlns:a16="http://schemas.microsoft.com/office/drawing/2014/main" id="{458C62E6-83BF-47FC-ABFD-7F59B02D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781550"/>
            <a:ext cx="38290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 i="0">
                <a:solidFill>
                  <a:srgbClr val="047857"/>
                </a:solidFill>
              </a:defRPr>
            </a:pPr>
            <a:r>
              <a:rPr sz="4800" b="1" i="0">
                <a:solidFill>
                  <a:srgbClr val="047857"/>
                </a:solidFill>
              </a:rPr>
              <a:t>3</a:t>
            </a:r>
          </a:p>
        </p:txBody>
      </p:sp>
      <p:sp>
        <p:nvSpPr>
          <p:cNvPr id="20" name="metric-label-paid Sprints sold">
            <a:extLst xmlns:a="http://schemas.openxmlformats.org/drawingml/2006/main">
              <a:ext uri="{FF2B5EF4-FFF2-40B4-BE49-F238E27FC236}">
                <a16:creationId xmlns:a16="http://schemas.microsoft.com/office/drawing/2014/main" id="{675D0CCA-30D0-41C1-B5D7-C63341A3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581650"/>
            <a:ext cx="382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67085"/>
                </a:solidFill>
              </a:defRPr>
            </a:pPr>
            <a:r>
              <a:rPr sz="1650" b="0" i="0">
                <a:solidFill>
                  <a:srgbClr val="667085"/>
                </a:solidFill>
              </a:rPr>
              <a:t>paid Sprints sold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5377339-F824-4B79-8223-575E6B89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03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7CE"/>
          </a:solidFill>
          <a:ln xmlns:a="http://schemas.openxmlformats.org/drawingml/2006/main" w="0">
            <a:solidFill>
              <a:srgbClr val="2F27CE"/>
            </a:solidFill>
            <a:prstDash val="solid"/>
          </a:ln>
        </p:spPr>
      </p:sp>
      <p:sp>
        <p:nvSpPr>
          <p:cNvPr id="22" name="footer-text">
            <a:extLst xmlns:a="http://schemas.openxmlformats.org/drawingml/2006/main">
              <a:ext uri="{FF2B5EF4-FFF2-40B4-BE49-F238E27FC236}">
                <a16:creationId xmlns:a16="http://schemas.microsoft.com/office/drawing/2014/main" id="{3DD98DC3-56ED-4883-93BA-2FC77AD7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210300"/>
            <a:ext cx="2362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7B8190"/>
                </a:solidFill>
              </a:defRPr>
            </a:pPr>
            <a:r>
              <a:rPr sz="1200" b="0" i="0">
                <a:solidFill>
                  <a:srgbClr val="7B8190"/>
                </a:solidFill>
              </a:rPr>
              <a:t>Crewtrace marketing plan | June 2026</a:t>
            </a:r>
          </a:p>
        </p:txBody>
      </p:sp>
    </p:spTree>
    <p:extLst>
      <p:ext uri="{BB962C8B-B14F-4D97-AF65-F5344CB8AC3E}">
        <p14:creationId xmlns:p14="http://schemas.microsoft.com/office/powerpoint/2010/main" val="507103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2026-06-01T22:55:50.3740000Z</dcterms:created>
  <dcterms:modified xsi:type="dcterms:W3CDTF">2026-06-01T22:55:50.3740000Z</dcterms:modified>
</coreProperties>
</file>